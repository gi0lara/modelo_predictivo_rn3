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ton" charset="1" panose="00000500000000000000"/>
      <p:regular r:id="rId24"/>
    </p:embeddedFont>
    <p:embeddedFont>
      <p:font typeface="Retropix" charset="1" panose="00000000000000000000"/>
      <p:regular r:id="rId25"/>
    </p:embeddedFont>
    <p:embeddedFont>
      <p:font typeface="Public San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sv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sv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5.png" Type="http://schemas.openxmlformats.org/officeDocument/2006/relationships/image"/><Relationship Id="rId20" Target="../media/image55.png" Type="http://schemas.openxmlformats.org/officeDocument/2006/relationships/image"/><Relationship Id="rId21" Target="../media/image56.png" Type="http://schemas.openxmlformats.org/officeDocument/2006/relationships/image"/><Relationship Id="rId22" Target="../media/image57.png" Type="http://schemas.openxmlformats.org/officeDocument/2006/relationships/image"/><Relationship Id="rId23" Target="../media/image58.svg" Type="http://schemas.openxmlformats.org/officeDocument/2006/relationships/image"/><Relationship Id="rId24" Target="../media/image59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66.png" Type="http://schemas.openxmlformats.org/officeDocument/2006/relationships/image"/><Relationship Id="rId19" Target="../media/image67.png" Type="http://schemas.openxmlformats.org/officeDocument/2006/relationships/image"/><Relationship Id="rId2" Target="../media/image60.png" Type="http://schemas.openxmlformats.org/officeDocument/2006/relationships/image"/><Relationship Id="rId20" Target="../media/image68.svg" Type="http://schemas.openxmlformats.org/officeDocument/2006/relationships/image"/><Relationship Id="rId21" Target="../media/image69.png" Type="http://schemas.openxmlformats.org/officeDocument/2006/relationships/image"/><Relationship Id="rId22" Target="../media/image70.sv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8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8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62.png" Type="http://schemas.openxmlformats.org/officeDocument/2006/relationships/image"/><Relationship Id="rId20" Target="../media/image11.png" Type="http://schemas.openxmlformats.org/officeDocument/2006/relationships/image"/><Relationship Id="rId21" Target="../media/image12.svg" Type="http://schemas.openxmlformats.org/officeDocument/2006/relationships/image"/><Relationship Id="rId22" Target="../media/image13.png" Type="http://schemas.openxmlformats.org/officeDocument/2006/relationships/image"/><Relationship Id="rId23" Target="../media/image14.svg" Type="http://schemas.openxmlformats.org/officeDocument/2006/relationships/image"/><Relationship Id="rId24" Target="../media/image87.png" Type="http://schemas.openxmlformats.org/officeDocument/2006/relationships/image"/><Relationship Id="rId3" Target="../media/image6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62.png" Type="http://schemas.openxmlformats.org/officeDocument/2006/relationships/image"/><Relationship Id="rId20" Target="../media/image11.png" Type="http://schemas.openxmlformats.org/officeDocument/2006/relationships/image"/><Relationship Id="rId21" Target="../media/image12.svg" Type="http://schemas.openxmlformats.org/officeDocument/2006/relationships/image"/><Relationship Id="rId22" Target="../media/image13.png" Type="http://schemas.openxmlformats.org/officeDocument/2006/relationships/image"/><Relationship Id="rId23" Target="../media/image14.svg" Type="http://schemas.openxmlformats.org/officeDocument/2006/relationships/image"/><Relationship Id="rId24" Target="../media/image88.png" Type="http://schemas.openxmlformats.org/officeDocument/2006/relationships/image"/><Relationship Id="rId3" Target="../media/image6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15.png" Type="http://schemas.openxmlformats.org/officeDocument/2006/relationships/image"/><Relationship Id="rId20" Target="../media/image89.png" Type="http://schemas.openxmlformats.org/officeDocument/2006/relationships/image"/><Relationship Id="rId21" Target="../media/image90.png" Type="http://schemas.openxmlformats.org/officeDocument/2006/relationships/image"/><Relationship Id="rId22" Target="../media/image91.svg" Type="http://schemas.openxmlformats.org/officeDocument/2006/relationships/image"/><Relationship Id="rId23" Target="../media/image92.pn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90.png" Type="http://schemas.openxmlformats.org/officeDocument/2006/relationships/image"/><Relationship Id="rId19" Target="../media/image91.svg" Type="http://schemas.openxmlformats.org/officeDocument/2006/relationships/image"/><Relationship Id="rId2" Target="../media/image15.png" Type="http://schemas.openxmlformats.org/officeDocument/2006/relationships/image"/><Relationship Id="rId20" Target="../media/image92.png" Type="http://schemas.openxmlformats.org/officeDocument/2006/relationships/image"/><Relationship Id="rId21" Target="../media/image53.png" Type="http://schemas.openxmlformats.org/officeDocument/2006/relationships/image"/><Relationship Id="rId22" Target="../media/image54.svg" Type="http://schemas.openxmlformats.org/officeDocument/2006/relationships/image"/><Relationship Id="rId23" Target="../media/image89.pn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99.png" Type="http://schemas.openxmlformats.org/officeDocument/2006/relationships/image"/><Relationship Id="rId19" Target="../media/image100.svg" Type="http://schemas.openxmlformats.org/officeDocument/2006/relationships/image"/><Relationship Id="rId2" Target="../media/image41.png" Type="http://schemas.openxmlformats.org/officeDocument/2006/relationships/image"/><Relationship Id="rId20" Target="../media/image101.png" Type="http://schemas.openxmlformats.org/officeDocument/2006/relationships/image"/><Relationship Id="rId21" Target="../media/image102.svg" Type="http://schemas.openxmlformats.org/officeDocument/2006/relationships/image"/><Relationship Id="rId22" Target="../media/image103.png" Type="http://schemas.openxmlformats.org/officeDocument/2006/relationships/image"/><Relationship Id="rId23" Target="../media/image104.svg" Type="http://schemas.openxmlformats.org/officeDocument/2006/relationships/image"/><Relationship Id="rId24" Target="../media/image105.png" Type="http://schemas.openxmlformats.org/officeDocument/2006/relationships/image"/><Relationship Id="rId25" Target="../media/image106.svg" Type="http://schemas.openxmlformats.org/officeDocument/2006/relationships/image"/><Relationship Id="rId26" Target="../media/image107.png" Type="http://schemas.openxmlformats.org/officeDocument/2006/relationships/image"/><Relationship Id="rId27" Target="../media/image108.svg" Type="http://schemas.openxmlformats.org/officeDocument/2006/relationships/image"/><Relationship Id="rId28" Target="../media/image109.png" Type="http://schemas.openxmlformats.org/officeDocument/2006/relationships/image"/><Relationship Id="rId29" Target="../media/image110.svg" Type="http://schemas.openxmlformats.org/officeDocument/2006/relationships/image"/><Relationship Id="rId3" Target="../media/image42.svg" Type="http://schemas.openxmlformats.org/officeDocument/2006/relationships/image"/><Relationship Id="rId30" Target="../media/image111.png" Type="http://schemas.openxmlformats.org/officeDocument/2006/relationships/image"/><Relationship Id="rId31" Target="../media/image112.svg" Type="http://schemas.openxmlformats.org/officeDocument/2006/relationships/image"/><Relationship Id="rId32" Target="../media/image113.png" Type="http://schemas.openxmlformats.org/officeDocument/2006/relationships/image"/><Relationship Id="rId33" Target="../media/image114.svg" Type="http://schemas.openxmlformats.org/officeDocument/2006/relationships/image"/><Relationship Id="rId34" Target="../media/image115.png" Type="http://schemas.openxmlformats.org/officeDocument/2006/relationships/image"/><Relationship Id="rId35" Target="../media/image116.svg" Type="http://schemas.openxmlformats.org/officeDocument/2006/relationships/image"/><Relationship Id="rId36" Target="../media/image117.png" Type="http://schemas.openxmlformats.org/officeDocument/2006/relationships/image"/><Relationship Id="rId37" Target="../media/image118.svg" Type="http://schemas.openxmlformats.org/officeDocument/2006/relationships/image"/><Relationship Id="rId38" Target="../media/image119.png" Type="http://schemas.openxmlformats.org/officeDocument/2006/relationships/image"/><Relationship Id="rId39" Target="../media/image120.svg" Type="http://schemas.openxmlformats.org/officeDocument/2006/relationships/image"/><Relationship Id="rId4" Target="../media/image93.png" Type="http://schemas.openxmlformats.org/officeDocument/2006/relationships/image"/><Relationship Id="rId40" Target="../media/image13.png" Type="http://schemas.openxmlformats.org/officeDocument/2006/relationships/image"/><Relationship Id="rId41" Target="../media/image14.svg" Type="http://schemas.openxmlformats.org/officeDocument/2006/relationships/image"/><Relationship Id="rId42" Target="../media/image121.png" Type="http://schemas.openxmlformats.org/officeDocument/2006/relationships/image"/><Relationship Id="rId43" Target="../media/image122.svg" Type="http://schemas.openxmlformats.org/officeDocument/2006/relationships/image"/><Relationship Id="rId44" Target="../media/image35.png" Type="http://schemas.openxmlformats.org/officeDocument/2006/relationships/image"/><Relationship Id="rId45" Target="../media/image36.svg" Type="http://schemas.openxmlformats.org/officeDocument/2006/relationships/image"/><Relationship Id="rId5" Target="../media/image94.svg" Type="http://schemas.openxmlformats.org/officeDocument/2006/relationships/image"/><Relationship Id="rId6" Target="../media/image90.png" Type="http://schemas.openxmlformats.org/officeDocument/2006/relationships/image"/><Relationship Id="rId7" Target="../media/image91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trash can icon"/>
          <p:cNvSpPr/>
          <p:nvPr/>
        </p:nvSpPr>
        <p:spPr>
          <a:xfrm flipH="false" flipV="false" rot="0">
            <a:off x="633368" y="3626446"/>
            <a:ext cx="782400" cy="1057297"/>
          </a:xfrm>
          <a:custGeom>
            <a:avLst/>
            <a:gdLst/>
            <a:ahLst/>
            <a:cxnLst/>
            <a:rect r="r" b="b" t="t" l="l"/>
            <a:pathLst>
              <a:path h="1057297" w="782400">
                <a:moveTo>
                  <a:pt x="0" y="0"/>
                </a:moveTo>
                <a:lnTo>
                  <a:pt x="782400" y="0"/>
                </a:lnTo>
                <a:lnTo>
                  <a:pt x="782400" y="1057296"/>
                </a:lnTo>
                <a:lnTo>
                  <a:pt x="0" y="1057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 yellow folder icon"/>
          <p:cNvSpPr/>
          <p:nvPr/>
        </p:nvSpPr>
        <p:spPr>
          <a:xfrm flipH="false" flipV="false" rot="0">
            <a:off x="511249" y="2300667"/>
            <a:ext cx="1026639" cy="785846"/>
          </a:xfrm>
          <a:custGeom>
            <a:avLst/>
            <a:gdLst/>
            <a:ahLst/>
            <a:cxnLst/>
            <a:rect r="r" b="b" t="t" l="l"/>
            <a:pathLst>
              <a:path h="785846" w="1026639">
                <a:moveTo>
                  <a:pt x="0" y="0"/>
                </a:moveTo>
                <a:lnTo>
                  <a:pt x="1026639" y="0"/>
                </a:lnTo>
                <a:lnTo>
                  <a:pt x="1026639" y="785845"/>
                </a:lnTo>
                <a:lnTo>
                  <a:pt x="0" y="785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a pixel image of a disk with a music note on it"/>
          <p:cNvSpPr/>
          <p:nvPr/>
        </p:nvSpPr>
        <p:spPr>
          <a:xfrm flipH="false" flipV="false" rot="0">
            <a:off x="559442" y="5223676"/>
            <a:ext cx="930253" cy="980151"/>
          </a:xfrm>
          <a:custGeom>
            <a:avLst/>
            <a:gdLst/>
            <a:ahLst/>
            <a:cxnLst/>
            <a:rect r="r" b="b" t="t" l="l"/>
            <a:pathLst>
              <a:path h="980151" w="930253">
                <a:moveTo>
                  <a:pt x="0" y="0"/>
                </a:moveTo>
                <a:lnTo>
                  <a:pt x="930253" y="0"/>
                </a:lnTo>
                <a:lnTo>
                  <a:pt x="930253" y="980151"/>
                </a:lnTo>
                <a:lnTo>
                  <a:pt x="0" y="980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an image of a floppy disk"/>
          <p:cNvSpPr/>
          <p:nvPr/>
        </p:nvSpPr>
        <p:spPr>
          <a:xfrm flipH="false" flipV="false" rot="0">
            <a:off x="16802844" y="538933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 yellow triangle with an exclamation mark on it"/>
          <p:cNvSpPr/>
          <p:nvPr/>
        </p:nvSpPr>
        <p:spPr>
          <a:xfrm flipH="false" flipV="false" rot="0">
            <a:off x="16788145" y="1764975"/>
            <a:ext cx="779562" cy="779562"/>
          </a:xfrm>
          <a:custGeom>
            <a:avLst/>
            <a:gdLst/>
            <a:ahLst/>
            <a:cxnLst/>
            <a:rect r="r" b="b" t="t" l="l"/>
            <a:pathLst>
              <a:path h="779562" w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cursor"/>
          <p:cNvSpPr/>
          <p:nvPr/>
        </p:nvSpPr>
        <p:spPr>
          <a:xfrm flipH="false" flipV="false" rot="0">
            <a:off x="13004220" y="5206486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702878" y="6193668"/>
            <a:ext cx="4882245" cy="1093405"/>
            <a:chOff x="0" y="0"/>
            <a:chExt cx="6509659" cy="145787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509659" cy="1457874"/>
              <a:chOff x="0" y="0"/>
              <a:chExt cx="2180608" cy="4883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80608" cy="488359"/>
              </a:xfrm>
              <a:custGeom>
                <a:avLst/>
                <a:gdLst/>
                <a:ahLst/>
                <a:cxnLst/>
                <a:rect r="r" b="b" t="t" l="l"/>
                <a:pathLst>
                  <a:path h="488359" w="2180608">
                    <a:moveTo>
                      <a:pt x="1977408" y="0"/>
                    </a:moveTo>
                    <a:cubicBezTo>
                      <a:pt x="2089632" y="0"/>
                      <a:pt x="2180608" y="109323"/>
                      <a:pt x="2180608" y="244180"/>
                    </a:cubicBezTo>
                    <a:cubicBezTo>
                      <a:pt x="2180608" y="379036"/>
                      <a:pt x="2089632" y="488359"/>
                      <a:pt x="1977408" y="488359"/>
                    </a:cubicBezTo>
                    <a:lnTo>
                      <a:pt x="203200" y="488359"/>
                    </a:lnTo>
                    <a:cubicBezTo>
                      <a:pt x="90976" y="488359"/>
                      <a:pt x="0" y="379036"/>
                      <a:pt x="0" y="244180"/>
                    </a:cubicBezTo>
                    <a:cubicBezTo>
                      <a:pt x="0" y="10932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180608" cy="5169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94996" y="500337"/>
              <a:ext cx="4834535" cy="45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Aprendizaje Automatico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605198" y="394071"/>
              <a:ext cx="689798" cy="669732"/>
            </a:xfrm>
            <a:custGeom>
              <a:avLst/>
              <a:gdLst/>
              <a:ahLst/>
              <a:cxnLst/>
              <a:rect r="r" b="b" t="t" l="l"/>
              <a:pathLst>
                <a:path h="669732" w="689798">
                  <a:moveTo>
                    <a:pt x="0" y="0"/>
                  </a:moveTo>
                  <a:lnTo>
                    <a:pt x="689798" y="0"/>
                  </a:lnTo>
                  <a:lnTo>
                    <a:pt x="689798" y="669732"/>
                  </a:lnTo>
                  <a:lnTo>
                    <a:pt x="0" y="669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052698"/>
            <a:ext cx="18288000" cy="1234302"/>
            <a:chOff x="0" y="0"/>
            <a:chExt cx="24384000" cy="164573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4384000" cy="1645736"/>
              <a:chOff x="0" y="0"/>
              <a:chExt cx="4816593" cy="3250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816592" cy="325084"/>
              </a:xfrm>
              <a:custGeom>
                <a:avLst/>
                <a:gdLst/>
                <a:ahLst/>
                <a:cxnLst/>
                <a:rect r="r" b="b" t="t" l="l"/>
                <a:pathLst>
                  <a:path h="32508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325084"/>
                    </a:lnTo>
                    <a:lnTo>
                      <a:pt x="0" y="325084"/>
                    </a:lnTo>
                    <a:close/>
                  </a:path>
                </a:pathLst>
              </a:custGeom>
              <a:solidFill>
                <a:srgbClr val="CCCCCC"/>
              </a:solidFill>
              <a:ln w="95250" cap="sq">
                <a:solidFill>
                  <a:srgbClr val="CCCCCC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816593" cy="36318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16552" y="286517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4997" y="436533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2" y="0"/>
                  </a:lnTo>
                  <a:lnTo>
                    <a:pt x="755812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97443" y="318086"/>
              <a:ext cx="1076085" cy="1009564"/>
            </a:xfrm>
            <a:custGeom>
              <a:avLst/>
              <a:gdLst/>
              <a:ahLst/>
              <a:cxnLst/>
              <a:rect r="r" b="b" t="t" l="l"/>
              <a:pathLst>
                <a:path h="1009564" w="1076085">
                  <a:moveTo>
                    <a:pt x="0" y="0"/>
                  </a:moveTo>
                  <a:lnTo>
                    <a:pt x="1076085" y="0"/>
                  </a:lnTo>
                  <a:lnTo>
                    <a:pt x="1076085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194335" y="366127"/>
              <a:ext cx="883585" cy="913481"/>
            </a:xfrm>
            <a:custGeom>
              <a:avLst/>
              <a:gdLst/>
              <a:ahLst/>
              <a:cxnLst/>
              <a:rect r="r" b="b" t="t" l="l"/>
              <a:pathLst>
                <a:path h="913481" w="883585">
                  <a:moveTo>
                    <a:pt x="0" y="0"/>
                  </a:moveTo>
                  <a:lnTo>
                    <a:pt x="883585" y="0"/>
                  </a:lnTo>
                  <a:lnTo>
                    <a:pt x="883585" y="913481"/>
                  </a:lnTo>
                  <a:lnTo>
                    <a:pt x="0" y="913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416372" y="377368"/>
              <a:ext cx="890999" cy="890999"/>
            </a:xfrm>
            <a:custGeom>
              <a:avLst/>
              <a:gdLst/>
              <a:ahLst/>
              <a:cxnLst/>
              <a:rect r="r" b="b" t="t" l="l"/>
              <a:pathLst>
                <a:path h="890999" w="890999">
                  <a:moveTo>
                    <a:pt x="0" y="0"/>
                  </a:moveTo>
                  <a:lnTo>
                    <a:pt x="890999" y="0"/>
                  </a:lnTo>
                  <a:lnTo>
                    <a:pt x="890999" y="890999"/>
                  </a:lnTo>
                  <a:lnTo>
                    <a:pt x="0" y="89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98727" y="342107"/>
              <a:ext cx="896838" cy="961522"/>
            </a:xfrm>
            <a:custGeom>
              <a:avLst/>
              <a:gdLst/>
              <a:ahLst/>
              <a:cxnLst/>
              <a:rect r="r" b="b" t="t" l="l"/>
              <a:pathLst>
                <a:path h="961522" w="896838">
                  <a:moveTo>
                    <a:pt x="0" y="0"/>
                  </a:moveTo>
                  <a:lnTo>
                    <a:pt x="896838" y="0"/>
                  </a:lnTo>
                  <a:lnTo>
                    <a:pt x="896838" y="961522"/>
                  </a:lnTo>
                  <a:lnTo>
                    <a:pt x="0" y="96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502778" y="318086"/>
              <a:ext cx="1207087" cy="1009564"/>
            </a:xfrm>
            <a:custGeom>
              <a:avLst/>
              <a:gdLst/>
              <a:ahLst/>
              <a:cxnLst/>
              <a:rect r="r" b="b" t="t" l="l"/>
              <a:pathLst>
                <a:path h="1009564" w="1207087">
                  <a:moveTo>
                    <a:pt x="0" y="0"/>
                  </a:moveTo>
                  <a:lnTo>
                    <a:pt x="1207088" y="0"/>
                  </a:lnTo>
                  <a:lnTo>
                    <a:pt x="1207088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2163171" y="429379"/>
              <a:ext cx="156229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11:11PM</a:t>
              </a:r>
            </a:p>
          </p:txBody>
        </p:sp>
      </p:grpSp>
      <p:sp>
        <p:nvSpPr>
          <p:cNvPr name="Freeform 26" id="26" descr="a pixel x mark"/>
          <p:cNvSpPr/>
          <p:nvPr/>
        </p:nvSpPr>
        <p:spPr>
          <a:xfrm flipH="false" flipV="false" rot="0">
            <a:off x="16773447" y="2991016"/>
            <a:ext cx="808959" cy="782484"/>
          </a:xfrm>
          <a:custGeom>
            <a:avLst/>
            <a:gdLst/>
            <a:ahLst/>
            <a:cxnLst/>
            <a:rect r="r" b="b" t="t" l="l"/>
            <a:pathLst>
              <a:path h="782484" w="808959">
                <a:moveTo>
                  <a:pt x="0" y="0"/>
                </a:moveTo>
                <a:lnTo>
                  <a:pt x="808959" y="0"/>
                </a:lnTo>
                <a:lnTo>
                  <a:pt x="808959" y="782484"/>
                </a:lnTo>
                <a:lnTo>
                  <a:pt x="0" y="78248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916306" y="9498399"/>
            <a:ext cx="451838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LARA, Giovanna Estefeania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970117" y="5143500"/>
            <a:ext cx="2252337" cy="2953885"/>
          </a:xfrm>
          <a:custGeom>
            <a:avLst/>
            <a:gdLst/>
            <a:ahLst/>
            <a:cxnLst/>
            <a:rect r="r" b="b" t="t" l="l"/>
            <a:pathLst>
              <a:path h="2953885" w="2252337">
                <a:moveTo>
                  <a:pt x="0" y="0"/>
                </a:moveTo>
                <a:lnTo>
                  <a:pt x="2252338" y="0"/>
                </a:lnTo>
                <a:lnTo>
                  <a:pt x="2252338" y="2953885"/>
                </a:lnTo>
                <a:lnTo>
                  <a:pt x="0" y="295388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alphaModFix amt="38000"/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457362" y="3660995"/>
            <a:ext cx="2532674" cy="2532674"/>
          </a:xfrm>
          <a:custGeom>
            <a:avLst/>
            <a:gdLst/>
            <a:ahLst/>
            <a:cxnLst/>
            <a:rect r="r" b="b" t="t" l="l"/>
            <a:pathLst>
              <a:path h="2532674" w="2532674">
                <a:moveTo>
                  <a:pt x="0" y="0"/>
                </a:moveTo>
                <a:lnTo>
                  <a:pt x="2532674" y="0"/>
                </a:lnTo>
                <a:lnTo>
                  <a:pt x="2532674" y="2532673"/>
                </a:lnTo>
                <a:lnTo>
                  <a:pt x="0" y="253267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alphaModFix amt="29000"/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8700" y="238273"/>
            <a:ext cx="2971923" cy="2752744"/>
          </a:xfrm>
          <a:custGeom>
            <a:avLst/>
            <a:gdLst/>
            <a:ahLst/>
            <a:cxnLst/>
            <a:rect r="r" b="b" t="t" l="l"/>
            <a:pathLst>
              <a:path h="2752744" w="2971923">
                <a:moveTo>
                  <a:pt x="0" y="0"/>
                </a:moveTo>
                <a:lnTo>
                  <a:pt x="2971923" y="0"/>
                </a:lnTo>
                <a:lnTo>
                  <a:pt x="2971923" y="2752743"/>
                </a:lnTo>
                <a:lnTo>
                  <a:pt x="0" y="275274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alphaModFix amt="30000"/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37888" y="1473615"/>
            <a:ext cx="14445066" cy="536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2"/>
              </a:lnSpc>
            </a:pPr>
            <a:r>
              <a:rPr lang="en-US" sz="100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Modelo Predictivo de Visibilidad y Seguridad Vial en la RN3</a:t>
            </a:r>
          </a:p>
          <a:p>
            <a:pPr algn="ctr">
              <a:lnSpc>
                <a:spcPts val="10072"/>
              </a:lnSpc>
            </a:pPr>
            <a:r>
              <a:rPr lang="en-US" sz="100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</p:txBody>
      </p:sp>
      <p:sp>
        <p:nvSpPr>
          <p:cNvPr name="Freeform 32" id="32" descr="an old computer with the word hi on it"/>
          <p:cNvSpPr/>
          <p:nvPr/>
        </p:nvSpPr>
        <p:spPr>
          <a:xfrm flipH="false" flipV="false" rot="0">
            <a:off x="543623" y="538933"/>
            <a:ext cx="961890" cy="1221800"/>
          </a:xfrm>
          <a:custGeom>
            <a:avLst/>
            <a:gdLst/>
            <a:ahLst/>
            <a:cxnLst/>
            <a:rect r="r" b="b" t="t" l="l"/>
            <a:pathLst>
              <a:path h="1221800" w="961890">
                <a:moveTo>
                  <a:pt x="0" y="0"/>
                </a:moveTo>
                <a:lnTo>
                  <a:pt x="961890" y="0"/>
                </a:lnTo>
                <a:lnTo>
                  <a:pt x="961890" y="1221801"/>
                </a:lnTo>
                <a:lnTo>
                  <a:pt x="0" y="1221801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261447" y="238273"/>
            <a:ext cx="2369075" cy="2369075"/>
          </a:xfrm>
          <a:custGeom>
            <a:avLst/>
            <a:gdLst/>
            <a:ahLst/>
            <a:cxnLst/>
            <a:rect r="r" b="b" t="t" l="l"/>
            <a:pathLst>
              <a:path h="2369075" w="2369075">
                <a:moveTo>
                  <a:pt x="0" y="0"/>
                </a:moveTo>
                <a:lnTo>
                  <a:pt x="2369075" y="0"/>
                </a:lnTo>
                <a:lnTo>
                  <a:pt x="2369075" y="2369074"/>
                </a:lnTo>
                <a:lnTo>
                  <a:pt x="0" y="236907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alphaModFix amt="39000"/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596" y="946860"/>
            <a:ext cx="14830914" cy="7521921"/>
            <a:chOff x="0" y="0"/>
            <a:chExt cx="3906084" cy="1981082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906084" cy="1981082"/>
            </a:xfrm>
            <a:custGeom>
              <a:avLst/>
              <a:gdLst/>
              <a:ahLst/>
              <a:cxnLst/>
              <a:rect r="r" b="b" t="t" l="l"/>
              <a:pathLst>
                <a:path h="1981082" w="3906084">
                  <a:moveTo>
                    <a:pt x="0" y="0"/>
                  </a:moveTo>
                  <a:lnTo>
                    <a:pt x="3906084" y="0"/>
                  </a:lnTo>
                  <a:lnTo>
                    <a:pt x="3906084" y="1981082"/>
                  </a:lnTo>
                  <a:lnTo>
                    <a:pt x="0" y="1981082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06084" cy="2019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 descr="cursor"/>
          <p:cNvSpPr/>
          <p:nvPr/>
        </p:nvSpPr>
        <p:spPr>
          <a:xfrm flipH="false" flipV="false" rot="3207690">
            <a:off x="6778520" y="805608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loading image"/>
          <p:cNvSpPr/>
          <p:nvPr/>
        </p:nvSpPr>
        <p:spPr>
          <a:xfrm flipH="false" flipV="false" rot="0">
            <a:off x="15355939" y="1387130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5390" y="1019175"/>
            <a:ext cx="117372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Objetivo del proyecto</a:t>
            </a:r>
          </a:p>
        </p:txBody>
      </p:sp>
      <p:sp>
        <p:nvSpPr>
          <p:cNvPr name="Freeform 10" id="10" descr="progress bar"/>
          <p:cNvSpPr/>
          <p:nvPr/>
        </p:nvSpPr>
        <p:spPr>
          <a:xfrm flipH="false" flipV="false" rot="0">
            <a:off x="14300605" y="2803633"/>
            <a:ext cx="2527153" cy="473267"/>
          </a:xfrm>
          <a:custGeom>
            <a:avLst/>
            <a:gdLst/>
            <a:ahLst/>
            <a:cxnLst/>
            <a:rect r="r" b="b" t="t" l="l"/>
            <a:pathLst>
              <a:path h="473267" w="2527153">
                <a:moveTo>
                  <a:pt x="0" y="0"/>
                </a:moveTo>
                <a:lnTo>
                  <a:pt x="2527154" y="0"/>
                </a:lnTo>
                <a:lnTo>
                  <a:pt x="2527154" y="473267"/>
                </a:lnTo>
                <a:lnTo>
                  <a:pt x="0" y="473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73707" y="2984408"/>
            <a:ext cx="10061599" cy="425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Este p</a:t>
            </a: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royecto tiene como objetivo desarrollar un modelo de Aprendizaje Automático capaz de predecir condiciones de riesgo vial asociadas a la baja visibilidad en la Ruta Nacional N.º 3 de Tierra del Fuego. Utilizando datos meteorológicos históricos, se busca identificar situaciones que favorezcan la formación de niebla y otros fenómenos que dificultan la conducción, contribuyendo así a la generación de alertas tempranas para mejorar</a:t>
            </a: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la seguridad vial.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41920" y="6988827"/>
            <a:ext cx="2777329" cy="2572501"/>
          </a:xfrm>
          <a:custGeom>
            <a:avLst/>
            <a:gdLst/>
            <a:ahLst/>
            <a:cxnLst/>
            <a:rect r="r" b="b" t="t" l="l"/>
            <a:pathLst>
              <a:path h="2572501" w="2777329">
                <a:moveTo>
                  <a:pt x="0" y="0"/>
                </a:moveTo>
                <a:lnTo>
                  <a:pt x="2777329" y="0"/>
                </a:lnTo>
                <a:lnTo>
                  <a:pt x="2777329" y="2572501"/>
                </a:lnTo>
                <a:lnTo>
                  <a:pt x="0" y="2572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74780" y="3469998"/>
            <a:ext cx="2792998" cy="2265820"/>
          </a:xfrm>
          <a:custGeom>
            <a:avLst/>
            <a:gdLst/>
            <a:ahLst/>
            <a:cxnLst/>
            <a:rect r="r" b="b" t="t" l="l"/>
            <a:pathLst>
              <a:path h="2265820" w="2792998">
                <a:moveTo>
                  <a:pt x="0" y="0"/>
                </a:moveTo>
                <a:lnTo>
                  <a:pt x="2792998" y="0"/>
                </a:lnTo>
                <a:lnTo>
                  <a:pt x="2792998" y="2265820"/>
                </a:lnTo>
                <a:lnTo>
                  <a:pt x="0" y="22658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cursor"/>
          <p:cNvSpPr/>
          <p:nvPr/>
        </p:nvSpPr>
        <p:spPr>
          <a:xfrm flipH="false" flipV="false" rot="0">
            <a:off x="6384158" y="4673965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 old tech window"/>
          <p:cNvSpPr/>
          <p:nvPr/>
        </p:nvSpPr>
        <p:spPr>
          <a:xfrm flipH="false" flipV="false" rot="0">
            <a:off x="417015" y="353523"/>
            <a:ext cx="8449187" cy="8449187"/>
          </a:xfrm>
          <a:custGeom>
            <a:avLst/>
            <a:gdLst/>
            <a:ahLst/>
            <a:cxnLst/>
            <a:rect r="r" b="b" t="t" l="l"/>
            <a:pathLst>
              <a:path h="8449187" w="8449187">
                <a:moveTo>
                  <a:pt x="0" y="0"/>
                </a:moveTo>
                <a:lnTo>
                  <a:pt x="8449186" y="0"/>
                </a:lnTo>
                <a:lnTo>
                  <a:pt x="8449186" y="8449187"/>
                </a:lnTo>
                <a:lnTo>
                  <a:pt x="0" y="84491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5088" y="1792659"/>
            <a:ext cx="7813653" cy="6506123"/>
            <a:chOff x="0" y="0"/>
            <a:chExt cx="963388" cy="802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3388" cy="802176"/>
            </a:xfrm>
            <a:custGeom>
              <a:avLst/>
              <a:gdLst/>
              <a:ahLst/>
              <a:cxnLst/>
              <a:rect r="r" b="b" t="t" l="l"/>
              <a:pathLst>
                <a:path h="802176" w="963388">
                  <a:moveTo>
                    <a:pt x="0" y="0"/>
                  </a:moveTo>
                  <a:lnTo>
                    <a:pt x="963388" y="0"/>
                  </a:lnTo>
                  <a:lnTo>
                    <a:pt x="963388" y="802176"/>
                  </a:lnTo>
                  <a:lnTo>
                    <a:pt x="0" y="802176"/>
                  </a:lnTo>
                  <a:close/>
                </a:path>
              </a:pathLst>
            </a:custGeom>
            <a:blipFill>
              <a:blip r:embed="rId20"/>
              <a:stretch>
                <a:fillRect l="-31776" t="-14403" r="-41300" b="-2517"/>
              </a:stretch>
            </a:blipFill>
          </p:spPr>
        </p:sp>
      </p:grpSp>
      <p:sp>
        <p:nvSpPr>
          <p:cNvPr name="Freeform 20" id="20" descr="pixel old tech window"/>
          <p:cNvSpPr/>
          <p:nvPr/>
        </p:nvSpPr>
        <p:spPr>
          <a:xfrm flipH="false" flipV="false" rot="0">
            <a:off x="6637450" y="3378890"/>
            <a:ext cx="6625084" cy="6625084"/>
          </a:xfrm>
          <a:custGeom>
            <a:avLst/>
            <a:gdLst/>
            <a:ahLst/>
            <a:cxnLst/>
            <a:rect r="r" b="b" t="t" l="l"/>
            <a:pathLst>
              <a:path h="6625084" w="6625084">
                <a:moveTo>
                  <a:pt x="0" y="0"/>
                </a:moveTo>
                <a:lnTo>
                  <a:pt x="6625084" y="0"/>
                </a:lnTo>
                <a:lnTo>
                  <a:pt x="6625084" y="6625084"/>
                </a:lnTo>
                <a:lnTo>
                  <a:pt x="0" y="66250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70125" y="4504197"/>
            <a:ext cx="6114099" cy="5112624"/>
            <a:chOff x="0" y="0"/>
            <a:chExt cx="947234" cy="7920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7234" cy="792079"/>
            </a:xfrm>
            <a:custGeom>
              <a:avLst/>
              <a:gdLst/>
              <a:ahLst/>
              <a:cxnLst/>
              <a:rect r="r" b="b" t="t" l="l"/>
              <a:pathLst>
                <a:path h="792079" w="947234">
                  <a:moveTo>
                    <a:pt x="0" y="0"/>
                  </a:moveTo>
                  <a:lnTo>
                    <a:pt x="947234" y="0"/>
                  </a:lnTo>
                  <a:lnTo>
                    <a:pt x="947234" y="792079"/>
                  </a:lnTo>
                  <a:lnTo>
                    <a:pt x="0" y="792079"/>
                  </a:lnTo>
                  <a:close/>
                </a:path>
              </a:pathLst>
            </a:custGeom>
            <a:blipFill>
              <a:blip r:embed="rId21"/>
              <a:stretch>
                <a:fillRect l="-47212" t="-25643" r="-43490" b="-263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60372" y="2302973"/>
            <a:ext cx="5898928" cy="4197419"/>
            <a:chOff x="0" y="0"/>
            <a:chExt cx="7865237" cy="5596558"/>
          </a:xfrm>
        </p:grpSpPr>
        <p:sp>
          <p:nvSpPr>
            <p:cNvPr name="Freeform 24" id="24" descr="old tech window ui"/>
            <p:cNvSpPr/>
            <p:nvPr/>
          </p:nvSpPr>
          <p:spPr>
            <a:xfrm flipH="false" flipV="false" rot="0">
              <a:off x="0" y="0"/>
              <a:ext cx="7865237" cy="3932618"/>
            </a:xfrm>
            <a:custGeom>
              <a:avLst/>
              <a:gdLst/>
              <a:ahLst/>
              <a:cxnLst/>
              <a:rect r="r" b="b" t="t" l="l"/>
              <a:pathLst>
                <a:path h="3932618" w="7865237">
                  <a:moveTo>
                    <a:pt x="0" y="0"/>
                  </a:moveTo>
                  <a:lnTo>
                    <a:pt x="7865237" y="0"/>
                  </a:lnTo>
                  <a:lnTo>
                    <a:pt x="7865237" y="3932618"/>
                  </a:lnTo>
                  <a:lnTo>
                    <a:pt x="0" y="393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371248" y="5084546"/>
              <a:ext cx="6137952" cy="512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485158" y="534039"/>
            <a:ext cx="2770174" cy="1561838"/>
          </a:xfrm>
          <a:custGeom>
            <a:avLst/>
            <a:gdLst/>
            <a:ahLst/>
            <a:cxnLst/>
            <a:rect r="r" b="b" t="t" l="l"/>
            <a:pathLst>
              <a:path h="1561838" w="2770174">
                <a:moveTo>
                  <a:pt x="0" y="0"/>
                </a:moveTo>
                <a:lnTo>
                  <a:pt x="2770173" y="0"/>
                </a:lnTo>
                <a:lnTo>
                  <a:pt x="2770173" y="1561838"/>
                </a:lnTo>
                <a:lnTo>
                  <a:pt x="0" y="156183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817603" y="343998"/>
            <a:ext cx="6307624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ORGANIZACIÓN</a:t>
            </a: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DEL PROYECTO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2522" y="476250"/>
            <a:ext cx="56624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Github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70125" y="3426859"/>
            <a:ext cx="56624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Cookiecutter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11037" y="3482741"/>
            <a:ext cx="561419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408" indent="-202204" lvl="1">
              <a:lnSpc>
                <a:spcPts val="2247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Control de versiones mediante Git y GitHub.</a:t>
            </a:r>
          </a:p>
          <a:p>
            <a:pPr algn="l" marL="404408" indent="-202204" lvl="1">
              <a:lnSpc>
                <a:spcPts val="2247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Estructura organizada con CookieCutter Data Science.</a:t>
            </a:r>
          </a:p>
          <a:p>
            <a:pPr algn="l" marL="404408" indent="-202204" lvl="1">
              <a:lnSpc>
                <a:spcPts val="2247"/>
              </a:lnSpc>
              <a:buFont typeface="Arial"/>
              <a:buChar char="•"/>
            </a:pPr>
            <a:r>
              <a:rPr lang="en-US" sz="187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Separación de datos crudos, datos procesados, notebooks y resultados.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003" y="7377886"/>
            <a:ext cx="3675793" cy="3069287"/>
          </a:xfrm>
          <a:custGeom>
            <a:avLst/>
            <a:gdLst/>
            <a:ahLst/>
            <a:cxnLst/>
            <a:rect r="r" b="b" t="t" l="l"/>
            <a:pathLst>
              <a:path h="3069287" w="3675793">
                <a:moveTo>
                  <a:pt x="0" y="0"/>
                </a:moveTo>
                <a:lnTo>
                  <a:pt x="3675793" y="0"/>
                </a:lnTo>
                <a:lnTo>
                  <a:pt x="3675793" y="3069287"/>
                </a:lnTo>
                <a:lnTo>
                  <a:pt x="0" y="3069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3438" y="206539"/>
            <a:ext cx="9184716" cy="9184716"/>
            <a:chOff x="0" y="0"/>
            <a:chExt cx="12246288" cy="12246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46288" cy="12246288"/>
            </a:xfrm>
            <a:custGeom>
              <a:avLst/>
              <a:gdLst/>
              <a:ahLst/>
              <a:cxnLst/>
              <a:rect r="r" b="b" t="t" l="l"/>
              <a:pathLst>
                <a:path h="12246288" w="12246288">
                  <a:moveTo>
                    <a:pt x="0" y="0"/>
                  </a:moveTo>
                  <a:lnTo>
                    <a:pt x="12246288" y="0"/>
                  </a:lnTo>
                  <a:lnTo>
                    <a:pt x="12246288" y="12246288"/>
                  </a:lnTo>
                  <a:lnTo>
                    <a:pt x="0" y="12246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457402" y="360135"/>
              <a:ext cx="557455" cy="539211"/>
            </a:xfrm>
            <a:custGeom>
              <a:avLst/>
              <a:gdLst/>
              <a:ahLst/>
              <a:cxnLst/>
              <a:rect r="r" b="b" t="t" l="l"/>
              <a:pathLst>
                <a:path h="539211" w="557455">
                  <a:moveTo>
                    <a:pt x="0" y="0"/>
                  </a:moveTo>
                  <a:lnTo>
                    <a:pt x="557454" y="0"/>
                  </a:lnTo>
                  <a:lnTo>
                    <a:pt x="557454" y="539211"/>
                  </a:lnTo>
                  <a:lnTo>
                    <a:pt x="0" y="539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709725" y="451857"/>
            <a:ext cx="2102866" cy="2102866"/>
          </a:xfrm>
          <a:custGeom>
            <a:avLst/>
            <a:gdLst/>
            <a:ahLst/>
            <a:cxnLst/>
            <a:rect r="r" b="b" t="t" l="l"/>
            <a:pathLst>
              <a:path h="2102866" w="2102866">
                <a:moveTo>
                  <a:pt x="0" y="0"/>
                </a:moveTo>
                <a:lnTo>
                  <a:pt x="2102866" y="0"/>
                </a:lnTo>
                <a:lnTo>
                  <a:pt x="2102866" y="2102867"/>
                </a:lnTo>
                <a:lnTo>
                  <a:pt x="0" y="21028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64409" y="1198491"/>
            <a:ext cx="18902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Dataset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12591" y="206539"/>
            <a:ext cx="1350287" cy="1033583"/>
          </a:xfrm>
          <a:custGeom>
            <a:avLst/>
            <a:gdLst/>
            <a:ahLst/>
            <a:cxnLst/>
            <a:rect r="r" b="b" t="t" l="l"/>
            <a:pathLst>
              <a:path h="1033583" w="1350287">
                <a:moveTo>
                  <a:pt x="0" y="0"/>
                </a:moveTo>
                <a:lnTo>
                  <a:pt x="1350287" y="0"/>
                </a:lnTo>
                <a:lnTo>
                  <a:pt x="1350287" y="1033583"/>
                </a:lnTo>
                <a:lnTo>
                  <a:pt x="0" y="1033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cursor"/>
          <p:cNvSpPr/>
          <p:nvPr/>
        </p:nvSpPr>
        <p:spPr>
          <a:xfrm flipH="false" flipV="false" rot="0">
            <a:off x="14312244" y="86199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762522" y="9160275"/>
            <a:ext cx="724326" cy="724326"/>
          </a:xfrm>
          <a:custGeom>
            <a:avLst/>
            <a:gdLst/>
            <a:ahLst/>
            <a:cxnLst/>
            <a:rect r="r" b="b" t="t" l="l"/>
            <a:pathLst>
              <a:path h="724326" w="724326">
                <a:moveTo>
                  <a:pt x="0" y="0"/>
                </a:moveTo>
                <a:lnTo>
                  <a:pt x="724326" y="0"/>
                </a:lnTo>
                <a:lnTo>
                  <a:pt x="724326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662473" y="9160275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9" y="0"/>
                </a:lnTo>
                <a:lnTo>
                  <a:pt x="746029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19508" y="4591191"/>
            <a:ext cx="2102866" cy="2102866"/>
          </a:xfrm>
          <a:custGeom>
            <a:avLst/>
            <a:gdLst/>
            <a:ahLst/>
            <a:cxnLst/>
            <a:rect r="r" b="b" t="t" l="l"/>
            <a:pathLst>
              <a:path h="2102866" w="2102866">
                <a:moveTo>
                  <a:pt x="0" y="0"/>
                </a:moveTo>
                <a:lnTo>
                  <a:pt x="2102867" y="0"/>
                </a:lnTo>
                <a:lnTo>
                  <a:pt x="2102867" y="2102866"/>
                </a:lnTo>
                <a:lnTo>
                  <a:pt x="0" y="2102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26309" y="1731891"/>
            <a:ext cx="7814589" cy="7180639"/>
            <a:chOff x="0" y="0"/>
            <a:chExt cx="1882999" cy="17302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2999" cy="1730243"/>
            </a:xfrm>
            <a:custGeom>
              <a:avLst/>
              <a:gdLst/>
              <a:ahLst/>
              <a:cxnLst/>
              <a:rect r="r" b="b" t="t" l="l"/>
              <a:pathLst>
                <a:path h="1730243" w="1882999">
                  <a:moveTo>
                    <a:pt x="0" y="0"/>
                  </a:moveTo>
                  <a:lnTo>
                    <a:pt x="1882999" y="0"/>
                  </a:lnTo>
                  <a:lnTo>
                    <a:pt x="1882999" y="1730243"/>
                  </a:lnTo>
                  <a:lnTo>
                    <a:pt x="0" y="1730243"/>
                  </a:lnTo>
                  <a:close/>
                </a:path>
              </a:pathLst>
            </a:custGeom>
            <a:blipFill>
              <a:blip r:embed="rId18"/>
              <a:stretch>
                <a:fillRect l="0" t="-1596" r="-2059" b="-159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62522" y="476250"/>
            <a:ext cx="56624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dataset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21342" y="2050271"/>
            <a:ext cx="11037958" cy="3592353"/>
            <a:chOff x="0" y="0"/>
            <a:chExt cx="14717277" cy="4789805"/>
          </a:xfrm>
        </p:grpSpPr>
        <p:sp>
          <p:nvSpPr>
            <p:cNvPr name="Freeform 17" id="17" descr="pixel old tech window"/>
            <p:cNvSpPr/>
            <p:nvPr/>
          </p:nvSpPr>
          <p:spPr>
            <a:xfrm flipH="false" flipV="false" rot="0">
              <a:off x="0" y="0"/>
              <a:ext cx="14717277" cy="4789805"/>
            </a:xfrm>
            <a:custGeom>
              <a:avLst/>
              <a:gdLst/>
              <a:ahLst/>
              <a:cxnLst/>
              <a:rect r="r" b="b" t="t" l="l"/>
              <a:pathLst>
                <a:path h="4789805" w="14717277">
                  <a:moveTo>
                    <a:pt x="0" y="0"/>
                  </a:moveTo>
                  <a:lnTo>
                    <a:pt x="14717277" y="0"/>
                  </a:lnTo>
                  <a:lnTo>
                    <a:pt x="14717277" y="4789805"/>
                  </a:lnTo>
                  <a:lnTo>
                    <a:pt x="0" y="4789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62494" y="223213"/>
              <a:ext cx="754991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dataset- rio grande Ushuaia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2494" y="1767083"/>
              <a:ext cx="13196516" cy="2251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sz="2414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Origen </a:t>
              </a:r>
              <a:r>
                <a:rPr lang="en-US" sz="2414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de los  datos</a:t>
              </a:r>
            </a:p>
            <a:p>
              <a:pPr algn="l" marL="521324" indent="-260662" lvl="1">
                <a:lnSpc>
                  <a:spcPts val="3380"/>
                </a:lnSpc>
                <a:buFont typeface="Arial"/>
                <a:buChar char="•"/>
              </a:pPr>
              <a:r>
                <a:rPr lang="en-US" sz="2414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 Plataforma Meteostat.</a:t>
              </a:r>
            </a:p>
            <a:p>
              <a:pPr algn="l" marL="521324" indent="-260662" lvl="1">
                <a:lnSpc>
                  <a:spcPts val="3380"/>
                </a:lnSpc>
                <a:buFont typeface="Arial"/>
                <a:buChar char="•"/>
              </a:pPr>
              <a:r>
                <a:rPr lang="en-US" sz="2414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 Estaciones meteorológicas de Río Grande y Ushuaia.</a:t>
              </a:r>
            </a:p>
            <a:p>
              <a:pPr algn="l" marL="521324" indent="-260662" lvl="1">
                <a:lnSpc>
                  <a:spcPts val="3380"/>
                </a:lnSpc>
                <a:buFont typeface="Arial"/>
                <a:buChar char="•"/>
              </a:pPr>
              <a:r>
                <a:rPr lang="en-US" sz="2414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Registros comprendidos entre enero de 2023 y abril de 2026.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612412" y="7188474"/>
            <a:ext cx="1943106" cy="1622493"/>
          </a:xfrm>
          <a:custGeom>
            <a:avLst/>
            <a:gdLst/>
            <a:ahLst/>
            <a:cxnLst/>
            <a:rect r="r" b="b" t="t" l="l"/>
            <a:pathLst>
              <a:path h="1622493" w="1943106">
                <a:moveTo>
                  <a:pt x="0" y="0"/>
                </a:moveTo>
                <a:lnTo>
                  <a:pt x="1943106" y="0"/>
                </a:lnTo>
                <a:lnTo>
                  <a:pt x="1943106" y="1622493"/>
                </a:lnTo>
                <a:lnTo>
                  <a:pt x="0" y="1622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 descr="pixel old tech window"/>
          <p:cNvSpPr/>
          <p:nvPr/>
        </p:nvSpPr>
        <p:spPr>
          <a:xfrm flipH="false" flipV="false" rot="0">
            <a:off x="7122202" y="5898913"/>
            <a:ext cx="4201616" cy="4201616"/>
          </a:xfrm>
          <a:custGeom>
            <a:avLst/>
            <a:gdLst/>
            <a:ahLst/>
            <a:cxnLst/>
            <a:rect r="r" b="b" t="t" l="l"/>
            <a:pathLst>
              <a:path h="4201616" w="4201616">
                <a:moveTo>
                  <a:pt x="0" y="0"/>
                </a:moveTo>
                <a:lnTo>
                  <a:pt x="4201616" y="0"/>
                </a:lnTo>
                <a:lnTo>
                  <a:pt x="4201616" y="4201616"/>
                </a:lnTo>
                <a:lnTo>
                  <a:pt x="0" y="42016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387208" y="7602239"/>
            <a:ext cx="3936611" cy="178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0280" indent="-220140" lvl="1">
              <a:lnSpc>
                <a:spcPts val="2854"/>
              </a:lnSpc>
              <a:buFont typeface="Arial"/>
              <a:buChar char="•"/>
            </a:pPr>
            <a:r>
              <a:rPr lang="en-US" sz="203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29.184</a:t>
            </a:r>
            <a:r>
              <a:rPr lang="en-US" sz="203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observaciones.</a:t>
            </a:r>
          </a:p>
          <a:p>
            <a:pPr algn="l" marL="440280" indent="-220140" lvl="1">
              <a:lnSpc>
                <a:spcPts val="2854"/>
              </a:lnSpc>
              <a:buFont typeface="Arial"/>
              <a:buChar char="•"/>
            </a:pPr>
            <a:r>
              <a:rPr lang="en-US" sz="203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19 variables meteorológicas</a:t>
            </a:r>
          </a:p>
          <a:p>
            <a:pPr algn="l" marL="440280" indent="-220140" lvl="1">
              <a:lnSpc>
                <a:spcPts val="2854"/>
              </a:lnSpc>
              <a:buFont typeface="Arial"/>
              <a:buChar char="•"/>
            </a:pPr>
            <a:r>
              <a:rPr lang="en-US" sz="203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Información climática representativa de Tierra del Fuego.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xelated folder"/>
          <p:cNvSpPr/>
          <p:nvPr/>
        </p:nvSpPr>
        <p:spPr>
          <a:xfrm flipH="false" flipV="false" rot="0">
            <a:off x="13382875" y="1028700"/>
            <a:ext cx="642346" cy="491687"/>
          </a:xfrm>
          <a:custGeom>
            <a:avLst/>
            <a:gdLst/>
            <a:ahLst/>
            <a:cxnLst/>
            <a:rect r="r" b="b" t="t" l="l"/>
            <a:pathLst>
              <a:path h="491687" w="642346">
                <a:moveTo>
                  <a:pt x="0" y="0"/>
                </a:moveTo>
                <a:lnTo>
                  <a:pt x="642346" y="0"/>
                </a:lnTo>
                <a:lnTo>
                  <a:pt x="642346" y="491687"/>
                </a:lnTo>
                <a:lnTo>
                  <a:pt x="0" y="491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0614" y="782856"/>
            <a:ext cx="6433434" cy="7492186"/>
            <a:chOff x="0" y="0"/>
            <a:chExt cx="8577912" cy="998958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576084" y="1314400"/>
              <a:ext cx="8001828" cy="8675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6"/>
                </a:lnSpc>
              </a:pP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Temperatura.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Punto de rocío.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Humedad relativa.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Precipitaciones.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Presión atmosférica.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Velocidad y ráfagas de viento.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Condición meteorológica (COCO).</a:t>
              </a:r>
            </a:p>
            <a:p>
              <a:pPr algn="ctr">
                <a:lnSpc>
                  <a:spcPts val="4356"/>
                </a:lnSpc>
              </a:pPr>
            </a:p>
            <a:p>
              <a:pPr algn="ctr">
                <a:lnSpc>
                  <a:spcPts val="4356"/>
                </a:lnSpc>
              </a:pPr>
            </a:p>
            <a:p>
              <a:pPr algn="ctr">
                <a:lnSpc>
                  <a:spcPts val="4356"/>
                </a:lnSpc>
              </a:pPr>
            </a:p>
            <a:p>
              <a:pPr algn="ctr">
                <a:lnSpc>
                  <a:spcPts val="4356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8040449" cy="111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74"/>
                </a:lnSpc>
              </a:pPr>
              <a:r>
                <a:rPr lang="en-US" sz="497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Variables utilizadas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9677" y="662819"/>
            <a:ext cx="6751504" cy="6990020"/>
            <a:chOff x="0" y="0"/>
            <a:chExt cx="9002006" cy="932002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392172" y="1389260"/>
              <a:ext cx="8609833" cy="7930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6"/>
                </a:lnSpc>
              </a:pP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Preprocesamiento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Integración de archivos semanales.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Consolidación de datos de ambas ciudades.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Tratamiento de valores faltantes mediante mediana.</a:t>
              </a:r>
            </a:p>
            <a:p>
              <a:pPr algn="l">
                <a:lnSpc>
                  <a:spcPts val="4356"/>
                </a:lnSpc>
              </a:pP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• Construcción de la</a:t>
              </a:r>
              <a:r>
                <a:rPr lang="en-US" sz="3111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 variable objetivo.</a:t>
              </a:r>
            </a:p>
            <a:p>
              <a:pPr algn="ctr">
                <a:lnSpc>
                  <a:spcPts val="4356"/>
                </a:lnSpc>
              </a:pPr>
            </a:p>
            <a:p>
              <a:pPr algn="ctr">
                <a:lnSpc>
                  <a:spcPts val="4356"/>
                </a:lnSpc>
              </a:pPr>
            </a:p>
            <a:p>
              <a:pPr algn="ctr">
                <a:lnSpc>
                  <a:spcPts val="4356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7715087" cy="111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74"/>
                </a:lnSpc>
              </a:pPr>
              <a:r>
                <a:rPr lang="en-US" sz="497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Procesamiento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10" id="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 descr="a pixelated image of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21" id="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23" id="23" descr="a pixelated folder"/>
          <p:cNvSpPr/>
          <p:nvPr/>
        </p:nvSpPr>
        <p:spPr>
          <a:xfrm flipH="false" flipV="false" rot="0">
            <a:off x="5966779" y="782856"/>
            <a:ext cx="642346" cy="491687"/>
          </a:xfrm>
          <a:custGeom>
            <a:avLst/>
            <a:gdLst/>
            <a:ahLst/>
            <a:cxnLst/>
            <a:rect r="r" b="b" t="t" l="l"/>
            <a:pathLst>
              <a:path h="491687" w="642346">
                <a:moveTo>
                  <a:pt x="0" y="0"/>
                </a:moveTo>
                <a:lnTo>
                  <a:pt x="642346" y="0"/>
                </a:lnTo>
                <a:lnTo>
                  <a:pt x="642346" y="491688"/>
                </a:lnTo>
                <a:lnTo>
                  <a:pt x="0" y="491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596" y="397890"/>
            <a:ext cx="5065297" cy="2532649"/>
            <a:chOff x="0" y="0"/>
            <a:chExt cx="6753729" cy="3376865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753729" cy="3376865"/>
            </a:xfrm>
            <a:custGeom>
              <a:avLst/>
              <a:gdLst/>
              <a:ahLst/>
              <a:cxnLst/>
              <a:rect r="r" b="b" t="t" l="l"/>
              <a:pathLst>
                <a:path h="3376865" w="6753729">
                  <a:moveTo>
                    <a:pt x="0" y="0"/>
                  </a:moveTo>
                  <a:lnTo>
                    <a:pt x="6753729" y="0"/>
                  </a:lnTo>
                  <a:lnTo>
                    <a:pt x="6753729" y="3376865"/>
                  </a:lnTo>
                  <a:lnTo>
                    <a:pt x="0" y="3376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510964" y="807985"/>
              <a:ext cx="5731801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Clase 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589068" y="667759"/>
            <a:ext cx="6871724" cy="191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9"/>
              </a:lnSpc>
            </a:pPr>
            <a:r>
              <a:rPr lang="en-US" sz="29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Buena visibilidad.</a:t>
            </a:r>
          </a:p>
          <a:p>
            <a:pPr algn="l">
              <a:lnSpc>
                <a:spcPts val="4229"/>
              </a:lnSpc>
            </a:pPr>
            <a:r>
              <a:rPr lang="en-US" sz="30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Circulación segura.</a:t>
            </a:r>
          </a:p>
          <a:p>
            <a:pPr algn="l">
              <a:lnSpc>
                <a:spcPts val="4229"/>
              </a:lnSpc>
            </a:pPr>
            <a:r>
              <a:rPr lang="en-US" sz="30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Condiciones meteorológicas normales.</a:t>
            </a:r>
          </a:p>
          <a:p>
            <a:pPr algn="ctr">
              <a:lnSpc>
                <a:spcPts val="28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87334" y="3585964"/>
            <a:ext cx="5715565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Lluvias.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Nevadas leves.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Reducción parcial de la visibilidad.</a:t>
            </a:r>
          </a:p>
          <a:p>
            <a:pPr algn="ctr">
              <a:lnSpc>
                <a:spcPts val="42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051182"/>
            <a:ext cx="5065297" cy="2532649"/>
            <a:chOff x="0" y="0"/>
            <a:chExt cx="6753729" cy="3376865"/>
          </a:xfrm>
        </p:grpSpPr>
        <p:sp>
          <p:nvSpPr>
            <p:cNvPr name="Freeform 8" id="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753729" cy="3376865"/>
            </a:xfrm>
            <a:custGeom>
              <a:avLst/>
              <a:gdLst/>
              <a:ahLst/>
              <a:cxnLst/>
              <a:rect r="r" b="b" t="t" l="l"/>
              <a:pathLst>
                <a:path h="3376865" w="6753729">
                  <a:moveTo>
                    <a:pt x="0" y="0"/>
                  </a:moveTo>
                  <a:lnTo>
                    <a:pt x="6753729" y="0"/>
                  </a:lnTo>
                  <a:lnTo>
                    <a:pt x="6753729" y="3376865"/>
                  </a:lnTo>
                  <a:lnTo>
                    <a:pt x="0" y="3376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16694" y="789129"/>
              <a:ext cx="5390370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Clase 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87334" y="7281314"/>
            <a:ext cx="5894769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Niebla.</a:t>
            </a:r>
          </a:p>
          <a:p>
            <a:pPr algn="l">
              <a:lnSpc>
                <a:spcPts val="4200"/>
              </a:lnSpc>
            </a:pPr>
            <a:r>
              <a:rPr lang="en-US" sz="3000" u="non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Niebla helada.</a:t>
            </a:r>
          </a:p>
          <a:p>
            <a:pPr algn="l">
              <a:lnSpc>
                <a:spcPts val="4200"/>
              </a:lnSpc>
            </a:pPr>
            <a:r>
              <a:rPr lang="en-US" sz="3000" u="non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Nevadas intensas.</a:t>
            </a:r>
          </a:p>
          <a:p>
            <a:pPr algn="l">
              <a:lnSpc>
                <a:spcPts val="4200"/>
              </a:lnSpc>
            </a:pPr>
            <a:r>
              <a:rPr lang="en-US" sz="3000" u="non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Tormentas y fenómenos severos.</a:t>
            </a:r>
          </a:p>
          <a:p>
            <a:pPr algn="ctr">
              <a:lnSpc>
                <a:spcPts val="42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672481"/>
            <a:ext cx="5065297" cy="2942038"/>
            <a:chOff x="0" y="0"/>
            <a:chExt cx="6753729" cy="3922718"/>
          </a:xfrm>
        </p:grpSpPr>
        <p:sp>
          <p:nvSpPr>
            <p:cNvPr name="Freeform 12" id="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6753729" cy="3376865"/>
            </a:xfrm>
            <a:custGeom>
              <a:avLst/>
              <a:gdLst/>
              <a:ahLst/>
              <a:cxnLst/>
              <a:rect r="r" b="b" t="t" l="l"/>
              <a:pathLst>
                <a:path h="3376865" w="6753729">
                  <a:moveTo>
                    <a:pt x="0" y="0"/>
                  </a:moveTo>
                  <a:lnTo>
                    <a:pt x="6753729" y="0"/>
                  </a:lnTo>
                  <a:lnTo>
                    <a:pt x="6753729" y="3376865"/>
                  </a:lnTo>
                  <a:lnTo>
                    <a:pt x="0" y="3376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11555" y="784715"/>
              <a:ext cx="5390370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Clase 2</a:t>
              </a:r>
            </a:p>
          </p:txBody>
        </p:sp>
        <p:sp>
          <p:nvSpPr>
            <p:cNvPr name="Freeform 14" id="14" descr="cursor"/>
            <p:cNvSpPr/>
            <p:nvPr/>
          </p:nvSpPr>
          <p:spPr>
            <a:xfrm flipH="false" flipV="false" rot="0">
              <a:off x="5425736" y="2822183"/>
              <a:ext cx="646314" cy="1100534"/>
            </a:xfrm>
            <a:custGeom>
              <a:avLst/>
              <a:gdLst/>
              <a:ahLst/>
              <a:cxnLst/>
              <a:rect r="r" b="b" t="t" l="l"/>
              <a:pathLst>
                <a:path h="1100534" w="646314">
                  <a:moveTo>
                    <a:pt x="0" y="0"/>
                  </a:moveTo>
                  <a:lnTo>
                    <a:pt x="646314" y="0"/>
                  </a:lnTo>
                  <a:lnTo>
                    <a:pt x="646314" y="1100535"/>
                  </a:lnTo>
                  <a:lnTo>
                    <a:pt x="0" y="1100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-184389" y="2043803"/>
            <a:ext cx="6871724" cy="5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</a:pPr>
            <a:r>
              <a:rPr lang="en-US" sz="30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Riesgo Bajo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0617" y="5275210"/>
            <a:ext cx="6871724" cy="5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</a:pPr>
            <a:r>
              <a:rPr lang="en-US" sz="30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Riesgo Moderado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487" y="8734965"/>
            <a:ext cx="6871724" cy="5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</a:pPr>
            <a:r>
              <a:rPr lang="en-US" sz="302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Riesgo Crítico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789363" y="6934742"/>
            <a:ext cx="2038215" cy="2007642"/>
          </a:xfrm>
          <a:custGeom>
            <a:avLst/>
            <a:gdLst/>
            <a:ahLst/>
            <a:cxnLst/>
            <a:rect r="r" b="b" t="t" l="l"/>
            <a:pathLst>
              <a:path h="2007642" w="2038215">
                <a:moveTo>
                  <a:pt x="0" y="0"/>
                </a:moveTo>
                <a:lnTo>
                  <a:pt x="2038215" y="0"/>
                </a:lnTo>
                <a:lnTo>
                  <a:pt x="2038215" y="2007642"/>
                </a:lnTo>
                <a:lnTo>
                  <a:pt x="0" y="20076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89363" y="3672481"/>
            <a:ext cx="1782931" cy="1488747"/>
          </a:xfrm>
          <a:custGeom>
            <a:avLst/>
            <a:gdLst/>
            <a:ahLst/>
            <a:cxnLst/>
            <a:rect r="r" b="b" t="t" l="l"/>
            <a:pathLst>
              <a:path h="1488747" w="1782931">
                <a:moveTo>
                  <a:pt x="0" y="0"/>
                </a:moveTo>
                <a:lnTo>
                  <a:pt x="1782931" y="0"/>
                </a:lnTo>
                <a:lnTo>
                  <a:pt x="1782931" y="1488747"/>
                </a:lnTo>
                <a:lnTo>
                  <a:pt x="0" y="14887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24930" y="201817"/>
            <a:ext cx="1802647" cy="1462398"/>
          </a:xfrm>
          <a:custGeom>
            <a:avLst/>
            <a:gdLst/>
            <a:ahLst/>
            <a:cxnLst/>
            <a:rect r="r" b="b" t="t" l="l"/>
            <a:pathLst>
              <a:path h="1462398" w="1802647">
                <a:moveTo>
                  <a:pt x="0" y="0"/>
                </a:moveTo>
                <a:lnTo>
                  <a:pt x="1802648" y="0"/>
                </a:lnTo>
                <a:lnTo>
                  <a:pt x="1802648" y="1462398"/>
                </a:lnTo>
                <a:lnTo>
                  <a:pt x="0" y="146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857755" y="2031696"/>
            <a:ext cx="4785731" cy="3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5"/>
              </a:lnSpc>
              <a:spcBef>
                <a:spcPct val="0"/>
              </a:spcBef>
            </a:pPr>
            <a:r>
              <a:rPr lang="en-US" sz="846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VARIABLE</a:t>
            </a:r>
          </a:p>
          <a:p>
            <a:pPr algn="ctr">
              <a:lnSpc>
                <a:spcPts val="11855"/>
              </a:lnSpc>
              <a:spcBef>
                <a:spcPct val="0"/>
              </a:spcBef>
            </a:pPr>
            <a:r>
              <a:rPr lang="en-US" sz="846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OBJETIVO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115" y="297427"/>
            <a:ext cx="17901029" cy="9866845"/>
            <a:chOff x="0" y="0"/>
            <a:chExt cx="4714674" cy="2598675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714674" cy="2598675"/>
            </a:xfrm>
            <a:custGeom>
              <a:avLst/>
              <a:gdLst/>
              <a:ahLst/>
              <a:cxnLst/>
              <a:rect r="r" b="b" t="t" l="l"/>
              <a:pathLst>
                <a:path h="2598675" w="4714674">
                  <a:moveTo>
                    <a:pt x="0" y="0"/>
                  </a:moveTo>
                  <a:lnTo>
                    <a:pt x="4714674" y="0"/>
                  </a:lnTo>
                  <a:lnTo>
                    <a:pt x="4714674" y="2598675"/>
                  </a:lnTo>
                  <a:lnTo>
                    <a:pt x="0" y="2598675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1818B7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4674" cy="2636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57489" y="8546265"/>
            <a:ext cx="2801811" cy="712035"/>
            <a:chOff x="0" y="0"/>
            <a:chExt cx="737925" cy="187532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8" id="8" descr="floppy disk"/>
          <p:cNvSpPr/>
          <p:nvPr/>
        </p:nvSpPr>
        <p:spPr>
          <a:xfrm flipH="false" flipV="false" rot="0">
            <a:off x="8135721" y="8902283"/>
            <a:ext cx="712035" cy="712035"/>
          </a:xfrm>
          <a:custGeom>
            <a:avLst/>
            <a:gdLst/>
            <a:ahLst/>
            <a:cxnLst/>
            <a:rect r="r" b="b" t="t" l="l"/>
            <a:pathLst>
              <a:path h="712035" w="712035">
                <a:moveTo>
                  <a:pt x="0" y="0"/>
                </a:moveTo>
                <a:lnTo>
                  <a:pt x="712035" y="0"/>
                </a:lnTo>
                <a:lnTo>
                  <a:pt x="712035" y="712034"/>
                </a:lnTo>
                <a:lnTo>
                  <a:pt x="0" y="71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ated dinosaur "/>
          <p:cNvSpPr/>
          <p:nvPr/>
        </p:nvSpPr>
        <p:spPr>
          <a:xfrm flipH="false" flipV="false" rot="0">
            <a:off x="9409731" y="8902283"/>
            <a:ext cx="670607" cy="712035"/>
          </a:xfrm>
          <a:custGeom>
            <a:avLst/>
            <a:gdLst/>
            <a:ahLst/>
            <a:cxnLst/>
            <a:rect r="r" b="b" t="t" l="l"/>
            <a:pathLst>
              <a:path h="712035" w="670607">
                <a:moveTo>
                  <a:pt x="0" y="0"/>
                </a:moveTo>
                <a:lnTo>
                  <a:pt x="670608" y="0"/>
                </a:lnTo>
                <a:lnTo>
                  <a:pt x="670608" y="712034"/>
                </a:lnTo>
                <a:lnTo>
                  <a:pt x="0" y="712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1634" y="5294937"/>
            <a:ext cx="6793977" cy="4519298"/>
          </a:xfrm>
          <a:custGeom>
            <a:avLst/>
            <a:gdLst/>
            <a:ahLst/>
            <a:cxnLst/>
            <a:rect r="r" b="b" t="t" l="l"/>
            <a:pathLst>
              <a:path h="4519298" w="6793977">
                <a:moveTo>
                  <a:pt x="0" y="0"/>
                </a:moveTo>
                <a:lnTo>
                  <a:pt x="6793977" y="0"/>
                </a:lnTo>
                <a:lnTo>
                  <a:pt x="6793977" y="4519297"/>
                </a:lnTo>
                <a:lnTo>
                  <a:pt x="0" y="4519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9773" y="481244"/>
            <a:ext cx="6785839" cy="4527239"/>
          </a:xfrm>
          <a:custGeom>
            <a:avLst/>
            <a:gdLst/>
            <a:ahLst/>
            <a:cxnLst/>
            <a:rect r="r" b="b" t="t" l="l"/>
            <a:pathLst>
              <a:path h="4527239" w="6785839">
                <a:moveTo>
                  <a:pt x="0" y="0"/>
                </a:moveTo>
                <a:lnTo>
                  <a:pt x="6785838" y="0"/>
                </a:lnTo>
                <a:lnTo>
                  <a:pt x="6785838" y="4527239"/>
                </a:lnTo>
                <a:lnTo>
                  <a:pt x="0" y="4527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00775" y="450701"/>
            <a:ext cx="6785839" cy="4588326"/>
          </a:xfrm>
          <a:custGeom>
            <a:avLst/>
            <a:gdLst/>
            <a:ahLst/>
            <a:cxnLst/>
            <a:rect r="r" b="b" t="t" l="l"/>
            <a:pathLst>
              <a:path h="4588326" w="6785839">
                <a:moveTo>
                  <a:pt x="0" y="0"/>
                </a:moveTo>
                <a:lnTo>
                  <a:pt x="6785839" y="0"/>
                </a:lnTo>
                <a:lnTo>
                  <a:pt x="6785839" y="4588326"/>
                </a:lnTo>
                <a:lnTo>
                  <a:pt x="0" y="458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911775" y="5008483"/>
            <a:ext cx="8988464" cy="2600938"/>
            <a:chOff x="0" y="0"/>
            <a:chExt cx="11984618" cy="346791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400304"/>
              <a:ext cx="6019034" cy="2067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51"/>
                </a:lnSpc>
                <a:spcBef>
                  <a:spcPct val="0"/>
                </a:spcBef>
              </a:pPr>
              <a:r>
                <a:rPr lang="en-US" sz="5551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Analisis exploratorio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693795" y="-57150"/>
              <a:ext cx="3290823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403" y="368394"/>
            <a:ext cx="17383194" cy="9550212"/>
            <a:chOff x="0" y="0"/>
            <a:chExt cx="4578290" cy="251528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578290" cy="2515282"/>
            </a:xfrm>
            <a:custGeom>
              <a:avLst/>
              <a:gdLst/>
              <a:ahLst/>
              <a:cxnLst/>
              <a:rect r="r" b="b" t="t" l="l"/>
              <a:pathLst>
                <a:path h="2515282" w="4578290">
                  <a:moveTo>
                    <a:pt x="0" y="0"/>
                  </a:moveTo>
                  <a:lnTo>
                    <a:pt x="4578290" y="0"/>
                  </a:lnTo>
                  <a:lnTo>
                    <a:pt x="4578290" y="2515282"/>
                  </a:lnTo>
                  <a:lnTo>
                    <a:pt x="0" y="2515282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1818B7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8290" cy="255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57489" y="8546265"/>
            <a:ext cx="2801811" cy="712035"/>
            <a:chOff x="0" y="0"/>
            <a:chExt cx="737925" cy="187532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8" id="8" descr="floppy disk"/>
          <p:cNvSpPr/>
          <p:nvPr/>
        </p:nvSpPr>
        <p:spPr>
          <a:xfrm flipH="false" flipV="false" rot="0">
            <a:off x="1028700" y="8546265"/>
            <a:ext cx="712035" cy="712035"/>
          </a:xfrm>
          <a:custGeom>
            <a:avLst/>
            <a:gdLst/>
            <a:ahLst/>
            <a:cxnLst/>
            <a:rect r="r" b="b" t="t" l="l"/>
            <a:pathLst>
              <a:path h="712035" w="712035">
                <a:moveTo>
                  <a:pt x="0" y="0"/>
                </a:moveTo>
                <a:lnTo>
                  <a:pt x="712035" y="0"/>
                </a:lnTo>
                <a:lnTo>
                  <a:pt x="712035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ated dinosaur "/>
          <p:cNvSpPr/>
          <p:nvPr/>
        </p:nvSpPr>
        <p:spPr>
          <a:xfrm flipH="false" flipV="false" rot="0">
            <a:off x="1986403" y="8546265"/>
            <a:ext cx="670607" cy="712035"/>
          </a:xfrm>
          <a:custGeom>
            <a:avLst/>
            <a:gdLst/>
            <a:ahLst/>
            <a:cxnLst/>
            <a:rect r="r" b="b" t="t" l="l"/>
            <a:pathLst>
              <a:path h="712035" w="670607">
                <a:moveTo>
                  <a:pt x="0" y="0"/>
                </a:moveTo>
                <a:lnTo>
                  <a:pt x="670607" y="0"/>
                </a:lnTo>
                <a:lnTo>
                  <a:pt x="670607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86782" y="808033"/>
            <a:ext cx="6811243" cy="5798460"/>
          </a:xfrm>
          <a:custGeom>
            <a:avLst/>
            <a:gdLst/>
            <a:ahLst/>
            <a:cxnLst/>
            <a:rect r="r" b="b" t="t" l="l"/>
            <a:pathLst>
              <a:path h="5798460" w="6811243">
                <a:moveTo>
                  <a:pt x="0" y="0"/>
                </a:moveTo>
                <a:lnTo>
                  <a:pt x="6811243" y="0"/>
                </a:lnTo>
                <a:lnTo>
                  <a:pt x="6811243" y="5798461"/>
                </a:lnTo>
                <a:lnTo>
                  <a:pt x="0" y="5798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808033"/>
            <a:ext cx="6837634" cy="5845422"/>
          </a:xfrm>
          <a:custGeom>
            <a:avLst/>
            <a:gdLst/>
            <a:ahLst/>
            <a:cxnLst/>
            <a:rect r="r" b="b" t="t" l="l"/>
            <a:pathLst>
              <a:path h="5845422" w="6837634">
                <a:moveTo>
                  <a:pt x="0" y="0"/>
                </a:moveTo>
                <a:lnTo>
                  <a:pt x="6837634" y="0"/>
                </a:lnTo>
                <a:lnTo>
                  <a:pt x="6837634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6912972"/>
            <a:ext cx="10763703" cy="2051182"/>
            <a:chOff x="0" y="0"/>
            <a:chExt cx="14351604" cy="273491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371228" y="-9525"/>
              <a:ext cx="13980377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Analisis exploratorio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75593"/>
              <a:ext cx="10748511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403" y="368394"/>
            <a:ext cx="17383194" cy="9550212"/>
            <a:chOff x="0" y="0"/>
            <a:chExt cx="4578290" cy="251528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578290" cy="2515282"/>
            </a:xfrm>
            <a:custGeom>
              <a:avLst/>
              <a:gdLst/>
              <a:ahLst/>
              <a:cxnLst/>
              <a:rect r="r" b="b" t="t" l="l"/>
              <a:pathLst>
                <a:path h="2515282" w="4578290">
                  <a:moveTo>
                    <a:pt x="0" y="0"/>
                  </a:moveTo>
                  <a:lnTo>
                    <a:pt x="4578290" y="0"/>
                  </a:lnTo>
                  <a:lnTo>
                    <a:pt x="4578290" y="2515282"/>
                  </a:lnTo>
                  <a:lnTo>
                    <a:pt x="0" y="2515282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1818B7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8290" cy="255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57489" y="8546265"/>
            <a:ext cx="2801811" cy="712035"/>
            <a:chOff x="0" y="0"/>
            <a:chExt cx="737925" cy="187532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8" id="8" descr="floppy disk"/>
          <p:cNvSpPr/>
          <p:nvPr/>
        </p:nvSpPr>
        <p:spPr>
          <a:xfrm flipH="false" flipV="false" rot="0">
            <a:off x="1028700" y="8546265"/>
            <a:ext cx="712035" cy="712035"/>
          </a:xfrm>
          <a:custGeom>
            <a:avLst/>
            <a:gdLst/>
            <a:ahLst/>
            <a:cxnLst/>
            <a:rect r="r" b="b" t="t" l="l"/>
            <a:pathLst>
              <a:path h="712035" w="712035">
                <a:moveTo>
                  <a:pt x="0" y="0"/>
                </a:moveTo>
                <a:lnTo>
                  <a:pt x="712035" y="0"/>
                </a:lnTo>
                <a:lnTo>
                  <a:pt x="712035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ated dinosaur "/>
          <p:cNvSpPr/>
          <p:nvPr/>
        </p:nvSpPr>
        <p:spPr>
          <a:xfrm flipH="false" flipV="false" rot="0">
            <a:off x="1986403" y="8546265"/>
            <a:ext cx="670607" cy="712035"/>
          </a:xfrm>
          <a:custGeom>
            <a:avLst/>
            <a:gdLst/>
            <a:ahLst/>
            <a:cxnLst/>
            <a:rect r="r" b="b" t="t" l="l"/>
            <a:pathLst>
              <a:path h="712035" w="670607">
                <a:moveTo>
                  <a:pt x="0" y="0"/>
                </a:moveTo>
                <a:lnTo>
                  <a:pt x="670607" y="0"/>
                </a:lnTo>
                <a:lnTo>
                  <a:pt x="670607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982" y="615407"/>
            <a:ext cx="15882408" cy="5618402"/>
          </a:xfrm>
          <a:custGeom>
            <a:avLst/>
            <a:gdLst/>
            <a:ahLst/>
            <a:cxnLst/>
            <a:rect r="r" b="b" t="t" l="l"/>
            <a:pathLst>
              <a:path h="5618402" w="15882408">
                <a:moveTo>
                  <a:pt x="0" y="0"/>
                </a:moveTo>
                <a:lnTo>
                  <a:pt x="15882408" y="0"/>
                </a:lnTo>
                <a:lnTo>
                  <a:pt x="15882408" y="5618402"/>
                </a:lnTo>
                <a:lnTo>
                  <a:pt x="0" y="5618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6912972"/>
            <a:ext cx="10763703" cy="2051182"/>
            <a:chOff x="0" y="0"/>
            <a:chExt cx="14351604" cy="273491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371228" y="-9525"/>
              <a:ext cx="13980377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Analisis exploratorio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75593"/>
              <a:ext cx="10748511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403" y="368394"/>
            <a:ext cx="17383194" cy="9550212"/>
            <a:chOff x="0" y="0"/>
            <a:chExt cx="4578290" cy="251528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578290" cy="2515282"/>
            </a:xfrm>
            <a:custGeom>
              <a:avLst/>
              <a:gdLst/>
              <a:ahLst/>
              <a:cxnLst/>
              <a:rect r="r" b="b" t="t" l="l"/>
              <a:pathLst>
                <a:path h="2515282" w="4578290">
                  <a:moveTo>
                    <a:pt x="0" y="0"/>
                  </a:moveTo>
                  <a:lnTo>
                    <a:pt x="4578290" y="0"/>
                  </a:lnTo>
                  <a:lnTo>
                    <a:pt x="4578290" y="2515282"/>
                  </a:lnTo>
                  <a:lnTo>
                    <a:pt x="0" y="2515282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1818B7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8290" cy="255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57489" y="8546265"/>
            <a:ext cx="2801811" cy="712035"/>
            <a:chOff x="0" y="0"/>
            <a:chExt cx="737925" cy="187532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8" id="8" descr="floppy disk"/>
          <p:cNvSpPr/>
          <p:nvPr/>
        </p:nvSpPr>
        <p:spPr>
          <a:xfrm flipH="false" flipV="false" rot="0">
            <a:off x="12042294" y="7399826"/>
            <a:ext cx="712035" cy="712035"/>
          </a:xfrm>
          <a:custGeom>
            <a:avLst/>
            <a:gdLst/>
            <a:ahLst/>
            <a:cxnLst/>
            <a:rect r="r" b="b" t="t" l="l"/>
            <a:pathLst>
              <a:path h="712035" w="712035">
                <a:moveTo>
                  <a:pt x="0" y="0"/>
                </a:moveTo>
                <a:lnTo>
                  <a:pt x="712035" y="0"/>
                </a:lnTo>
                <a:lnTo>
                  <a:pt x="712035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ated dinosaur "/>
          <p:cNvSpPr/>
          <p:nvPr/>
        </p:nvSpPr>
        <p:spPr>
          <a:xfrm flipH="false" flipV="false" rot="0">
            <a:off x="12042294" y="8546265"/>
            <a:ext cx="670607" cy="712035"/>
          </a:xfrm>
          <a:custGeom>
            <a:avLst/>
            <a:gdLst/>
            <a:ahLst/>
            <a:cxnLst/>
            <a:rect r="r" b="b" t="t" l="l"/>
            <a:pathLst>
              <a:path h="712035" w="670607">
                <a:moveTo>
                  <a:pt x="0" y="0"/>
                </a:moveTo>
                <a:lnTo>
                  <a:pt x="670608" y="0"/>
                </a:lnTo>
                <a:lnTo>
                  <a:pt x="670608" y="712035"/>
                </a:lnTo>
                <a:lnTo>
                  <a:pt x="0" y="712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9526" y="1989623"/>
            <a:ext cx="10319967" cy="7268677"/>
          </a:xfrm>
          <a:custGeom>
            <a:avLst/>
            <a:gdLst/>
            <a:ahLst/>
            <a:cxnLst/>
            <a:rect r="r" b="b" t="t" l="l"/>
            <a:pathLst>
              <a:path h="7268677" w="10319967">
                <a:moveTo>
                  <a:pt x="0" y="0"/>
                </a:moveTo>
                <a:lnTo>
                  <a:pt x="10319967" y="0"/>
                </a:lnTo>
                <a:lnTo>
                  <a:pt x="10319967" y="7268677"/>
                </a:lnTo>
                <a:lnTo>
                  <a:pt x="0" y="7268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5790" y="853225"/>
            <a:ext cx="10763703" cy="2051182"/>
            <a:chOff x="0" y="0"/>
            <a:chExt cx="14351604" cy="273491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371228" y="-9525"/>
              <a:ext cx="13980377" cy="1427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Analisis exploratorio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75593"/>
              <a:ext cx="10748511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7A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403" y="368394"/>
            <a:ext cx="17383194" cy="9550212"/>
            <a:chOff x="0" y="0"/>
            <a:chExt cx="4578290" cy="251528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578290" cy="2515282"/>
            </a:xfrm>
            <a:custGeom>
              <a:avLst/>
              <a:gdLst/>
              <a:ahLst/>
              <a:cxnLst/>
              <a:rect r="r" b="b" t="t" l="l"/>
              <a:pathLst>
                <a:path h="2515282" w="4578290">
                  <a:moveTo>
                    <a:pt x="0" y="0"/>
                  </a:moveTo>
                  <a:lnTo>
                    <a:pt x="4578290" y="0"/>
                  </a:lnTo>
                  <a:lnTo>
                    <a:pt x="4578290" y="2515282"/>
                  </a:lnTo>
                  <a:lnTo>
                    <a:pt x="0" y="2515282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1818B7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8290" cy="2553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57489" y="8546265"/>
            <a:ext cx="2801811" cy="712035"/>
            <a:chOff x="0" y="0"/>
            <a:chExt cx="737925" cy="187532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53034" y="6177472"/>
            <a:ext cx="6925323" cy="3406358"/>
          </a:xfrm>
          <a:custGeom>
            <a:avLst/>
            <a:gdLst/>
            <a:ahLst/>
            <a:cxnLst/>
            <a:rect r="r" b="b" t="t" l="l"/>
            <a:pathLst>
              <a:path h="3406358" w="6925323">
                <a:moveTo>
                  <a:pt x="0" y="0"/>
                </a:moveTo>
                <a:lnTo>
                  <a:pt x="6925322" y="0"/>
                </a:lnTo>
                <a:lnTo>
                  <a:pt x="6925322" y="3406358"/>
                </a:lnTo>
                <a:lnTo>
                  <a:pt x="0" y="340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22278" y="6086221"/>
            <a:ext cx="4981943" cy="3704684"/>
          </a:xfrm>
          <a:custGeom>
            <a:avLst/>
            <a:gdLst/>
            <a:ahLst/>
            <a:cxnLst/>
            <a:rect r="r" b="b" t="t" l="l"/>
            <a:pathLst>
              <a:path h="3704684" w="4981943">
                <a:moveTo>
                  <a:pt x="0" y="0"/>
                </a:moveTo>
                <a:lnTo>
                  <a:pt x="4981942" y="0"/>
                </a:lnTo>
                <a:lnTo>
                  <a:pt x="4981942" y="3704684"/>
                </a:lnTo>
                <a:lnTo>
                  <a:pt x="0" y="3704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3034" y="722396"/>
            <a:ext cx="12251187" cy="5095168"/>
          </a:xfrm>
          <a:custGeom>
            <a:avLst/>
            <a:gdLst/>
            <a:ahLst/>
            <a:cxnLst/>
            <a:rect r="r" b="b" t="t" l="l"/>
            <a:pathLst>
              <a:path h="5095168" w="12251187">
                <a:moveTo>
                  <a:pt x="0" y="0"/>
                </a:moveTo>
                <a:lnTo>
                  <a:pt x="12251186" y="0"/>
                </a:lnTo>
                <a:lnTo>
                  <a:pt x="12251186" y="5095168"/>
                </a:lnTo>
                <a:lnTo>
                  <a:pt x="0" y="5095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48579" y="1028700"/>
            <a:ext cx="4823177" cy="2937007"/>
            <a:chOff x="0" y="0"/>
            <a:chExt cx="6430902" cy="391601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22108" y="0"/>
              <a:ext cx="5840082" cy="1814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87"/>
                </a:lnSpc>
                <a:spcBef>
                  <a:spcPct val="0"/>
                </a:spcBef>
              </a:pPr>
              <a:r>
                <a:rPr lang="en-US" sz="4887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Analisis exploratorio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456693"/>
              <a:ext cx="6430902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2824" y="156553"/>
            <a:ext cx="7291286" cy="6862132"/>
            <a:chOff x="0" y="0"/>
            <a:chExt cx="9721715" cy="9149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381748" y="277004"/>
              <a:ext cx="5919523" cy="533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4"/>
                </a:lnSpc>
              </a:pPr>
              <a:r>
                <a:rPr lang="en-US" sz="2634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C</a:t>
              </a:r>
              <a:r>
                <a:rPr lang="en-US" sz="2634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onfiguración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72205" y="1957706"/>
              <a:ext cx="9149510" cy="2945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200 árboles de decisión.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Profundidad máxima: 10.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class_weight = balanced.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random_state = 42.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1940" y="1758168"/>
            <a:ext cx="6862132" cy="6862132"/>
            <a:chOff x="0" y="0"/>
            <a:chExt cx="9149510" cy="9149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11" id="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22" id="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24" id="24" descr="cursor"/>
          <p:cNvSpPr/>
          <p:nvPr/>
        </p:nvSpPr>
        <p:spPr>
          <a:xfrm flipH="false" flipV="false" rot="0">
            <a:off x="7559719" y="932767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 descr="a speech bubble"/>
          <p:cNvSpPr/>
          <p:nvPr/>
        </p:nvSpPr>
        <p:spPr>
          <a:xfrm flipH="false" flipV="false" rot="0">
            <a:off x="9144000" y="208441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9" y="0"/>
                </a:lnTo>
                <a:lnTo>
                  <a:pt x="746029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029356" y="4314430"/>
            <a:ext cx="6420182" cy="1749671"/>
          </a:xfrm>
          <a:custGeom>
            <a:avLst/>
            <a:gdLst/>
            <a:ahLst/>
            <a:cxnLst/>
            <a:rect r="r" b="b" t="t" l="l"/>
            <a:pathLst>
              <a:path h="1749671" w="6420182">
                <a:moveTo>
                  <a:pt x="0" y="0"/>
                </a:moveTo>
                <a:lnTo>
                  <a:pt x="6420182" y="0"/>
                </a:lnTo>
                <a:lnTo>
                  <a:pt x="6420182" y="1749671"/>
                </a:lnTo>
                <a:lnTo>
                  <a:pt x="0" y="174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-22465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33089" y="362692"/>
            <a:ext cx="681136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</a:t>
            </a: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andom Forest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3089" y="1920187"/>
            <a:ext cx="4439642" cy="40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63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Motivos de selección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3089" y="3166426"/>
            <a:ext cx="5888236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Buen desempeño en clasificación.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Manejo de relaciones no lineales.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Robustez frente a valores atípicos.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Menor riesgo de sobreajuste.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Configuración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6886" y="1712434"/>
            <a:ext cx="7291286" cy="6862132"/>
            <a:chOff x="0" y="0"/>
            <a:chExt cx="9721715" cy="9149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9510" cy="9149510"/>
            </a:xfrm>
            <a:custGeom>
              <a:avLst/>
              <a:gdLst/>
              <a:ahLst/>
              <a:cxnLst/>
              <a:rect r="r" b="b" t="t" l="l"/>
              <a:pathLst>
                <a:path h="9149510" w="9149510">
                  <a:moveTo>
                    <a:pt x="0" y="0"/>
                  </a:moveTo>
                  <a:lnTo>
                    <a:pt x="9149510" y="0"/>
                  </a:lnTo>
                  <a:lnTo>
                    <a:pt x="9149510" y="9149510"/>
                  </a:lnTo>
                  <a:lnTo>
                    <a:pt x="0" y="9149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341154" y="287255"/>
              <a:ext cx="444643" cy="430091"/>
            </a:xfrm>
            <a:custGeom>
              <a:avLst/>
              <a:gdLst/>
              <a:ahLst/>
              <a:cxnLst/>
              <a:rect r="r" b="b" t="t" l="l"/>
              <a:pathLst>
                <a:path h="430091" w="444643">
                  <a:moveTo>
                    <a:pt x="0" y="0"/>
                  </a:moveTo>
                  <a:lnTo>
                    <a:pt x="444644" y="0"/>
                  </a:lnTo>
                  <a:lnTo>
                    <a:pt x="444644" y="430092"/>
                  </a:lnTo>
                  <a:lnTo>
                    <a:pt x="0" y="43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77249" y="287255"/>
              <a:ext cx="5919523" cy="533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4"/>
                </a:lnSpc>
              </a:pPr>
              <a:r>
                <a:rPr lang="en-US" sz="2634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Entrenamiento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72205" y="1957706"/>
              <a:ext cx="9149510" cy="3695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Divi</a:t>
              </a: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sión de datos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80 % entrenamiento.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20 % prueba.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Muestreo estratificado.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8" id="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9" id="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sp>
        <p:nvSpPr>
          <p:cNvPr name="Freeform 21" id="21" descr="cursor"/>
          <p:cNvSpPr/>
          <p:nvPr/>
        </p:nvSpPr>
        <p:spPr>
          <a:xfrm flipH="false" flipV="false" rot="0">
            <a:off x="7559719" y="932767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a speech bubble"/>
          <p:cNvSpPr/>
          <p:nvPr/>
        </p:nvSpPr>
        <p:spPr>
          <a:xfrm flipH="false" flipV="false" rot="0">
            <a:off x="9144000" y="208441"/>
            <a:ext cx="746029" cy="724326"/>
          </a:xfrm>
          <a:custGeom>
            <a:avLst/>
            <a:gdLst/>
            <a:ahLst/>
            <a:cxnLst/>
            <a:rect r="r" b="b" t="t" l="l"/>
            <a:pathLst>
              <a:path h="724326" w="746029">
                <a:moveTo>
                  <a:pt x="0" y="0"/>
                </a:moveTo>
                <a:lnTo>
                  <a:pt x="746029" y="0"/>
                </a:lnTo>
                <a:lnTo>
                  <a:pt x="746029" y="724326"/>
                </a:lnTo>
                <a:lnTo>
                  <a:pt x="0" y="724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926567" y="1435842"/>
            <a:ext cx="10483351" cy="6670032"/>
          </a:xfrm>
          <a:custGeom>
            <a:avLst/>
            <a:gdLst/>
            <a:ahLst/>
            <a:cxnLst/>
            <a:rect r="r" b="b" t="t" l="l"/>
            <a:pathLst>
              <a:path h="6670032" w="10483351">
                <a:moveTo>
                  <a:pt x="0" y="0"/>
                </a:moveTo>
                <a:lnTo>
                  <a:pt x="10483351" y="0"/>
                </a:lnTo>
                <a:lnTo>
                  <a:pt x="10483351" y="6670032"/>
                </a:lnTo>
                <a:lnTo>
                  <a:pt x="0" y="667003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33089" y="362692"/>
            <a:ext cx="669347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</a:t>
            </a: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cursor"/>
          <p:cNvSpPr/>
          <p:nvPr/>
        </p:nvSpPr>
        <p:spPr>
          <a:xfrm flipH="false" flipV="false" rot="0">
            <a:off x="6384158" y="4673965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 descr="pixel old tech window"/>
          <p:cNvSpPr/>
          <p:nvPr/>
        </p:nvSpPr>
        <p:spPr>
          <a:xfrm flipH="false" flipV="false" rot="0">
            <a:off x="417015" y="353523"/>
            <a:ext cx="9230307" cy="9230307"/>
          </a:xfrm>
          <a:custGeom>
            <a:avLst/>
            <a:gdLst/>
            <a:ahLst/>
            <a:cxnLst/>
            <a:rect r="r" b="b" t="t" l="l"/>
            <a:pathLst>
              <a:path h="9230307" w="9230307">
                <a:moveTo>
                  <a:pt x="0" y="0"/>
                </a:moveTo>
                <a:lnTo>
                  <a:pt x="9230307" y="0"/>
                </a:lnTo>
                <a:lnTo>
                  <a:pt x="9230307" y="9230307"/>
                </a:lnTo>
                <a:lnTo>
                  <a:pt x="0" y="92303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9677" y="1937509"/>
            <a:ext cx="8588912" cy="6298312"/>
            <a:chOff x="0" y="0"/>
            <a:chExt cx="1093915" cy="802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3915" cy="802176"/>
            </a:xfrm>
            <a:custGeom>
              <a:avLst/>
              <a:gdLst/>
              <a:ahLst/>
              <a:cxnLst/>
              <a:rect r="r" b="b" t="t" l="l"/>
              <a:pathLst>
                <a:path h="802176" w="1093915">
                  <a:moveTo>
                    <a:pt x="0" y="0"/>
                  </a:moveTo>
                  <a:lnTo>
                    <a:pt x="1093915" y="0"/>
                  </a:lnTo>
                  <a:lnTo>
                    <a:pt x="1093915" y="802176"/>
                  </a:lnTo>
                  <a:lnTo>
                    <a:pt x="0" y="802176"/>
                  </a:lnTo>
                  <a:close/>
                </a:path>
              </a:pathLst>
            </a:custGeom>
            <a:blipFill>
              <a:blip r:embed="rId20"/>
              <a:stretch>
                <a:fillRect l="0" t="-545" r="0" b="-54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70482" y="3650297"/>
            <a:ext cx="11293721" cy="5646861"/>
            <a:chOff x="0" y="0"/>
            <a:chExt cx="15058295" cy="7529148"/>
          </a:xfrm>
        </p:grpSpPr>
        <p:sp>
          <p:nvSpPr>
            <p:cNvPr name="Freeform 21" id="21" descr="pixel old tech window"/>
            <p:cNvSpPr/>
            <p:nvPr/>
          </p:nvSpPr>
          <p:spPr>
            <a:xfrm flipH="false" flipV="false" rot="-5400000">
              <a:off x="3764574" y="-3764574"/>
              <a:ext cx="7529148" cy="15058295"/>
            </a:xfrm>
            <a:custGeom>
              <a:avLst/>
              <a:gdLst/>
              <a:ahLst/>
              <a:cxnLst/>
              <a:rect r="r" b="b" t="t" l="l"/>
              <a:pathLst>
                <a:path h="15058295" w="7529148">
                  <a:moveTo>
                    <a:pt x="0" y="0"/>
                  </a:moveTo>
                  <a:lnTo>
                    <a:pt x="7529147" y="0"/>
                  </a:lnTo>
                  <a:lnTo>
                    <a:pt x="7529147" y="15058295"/>
                  </a:lnTo>
                  <a:lnTo>
                    <a:pt x="0" y="1505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618815" y="785371"/>
              <a:ext cx="11520203" cy="6054585"/>
            </a:xfrm>
            <a:custGeom>
              <a:avLst/>
              <a:gdLst/>
              <a:ahLst/>
              <a:cxnLst/>
              <a:rect r="r" b="b" t="t" l="l"/>
              <a:pathLst>
                <a:path h="6054585" w="11520203">
                  <a:moveTo>
                    <a:pt x="0" y="0"/>
                  </a:moveTo>
                  <a:lnTo>
                    <a:pt x="11520203" y="0"/>
                  </a:lnTo>
                  <a:lnTo>
                    <a:pt x="11520203" y="6054585"/>
                  </a:lnTo>
                  <a:lnTo>
                    <a:pt x="0" y="605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4914233" y="2302973"/>
            <a:ext cx="2345067" cy="1902436"/>
          </a:xfrm>
          <a:custGeom>
            <a:avLst/>
            <a:gdLst/>
            <a:ahLst/>
            <a:cxnLst/>
            <a:rect r="r" b="b" t="t" l="l"/>
            <a:pathLst>
              <a:path h="1902436" w="2345067">
                <a:moveTo>
                  <a:pt x="0" y="0"/>
                </a:moveTo>
                <a:lnTo>
                  <a:pt x="2345067" y="0"/>
                </a:lnTo>
                <a:lnTo>
                  <a:pt x="2345067" y="1902436"/>
                </a:lnTo>
                <a:lnTo>
                  <a:pt x="0" y="190243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47000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817603" y="343998"/>
            <a:ext cx="6307624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Evaluación del  Modelo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2698"/>
            <a:ext cx="18288000" cy="1234302"/>
            <a:chOff x="0" y="0"/>
            <a:chExt cx="4816593" cy="325084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325084"/>
            </a:xfrm>
            <a:custGeom>
              <a:avLst/>
              <a:gdLst/>
              <a:ahLst/>
              <a:cxnLst/>
              <a:rect r="r" b="b" t="t" l="l"/>
              <a:pathLst>
                <a:path h="32508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5084"/>
                  </a:lnTo>
                  <a:lnTo>
                    <a:pt x="0" y="325084"/>
                  </a:lnTo>
                  <a:close/>
                </a:path>
              </a:pathLst>
            </a:custGeom>
            <a:solidFill>
              <a:srgbClr val="CCCCCC"/>
            </a:solidFill>
            <a:ln w="95250" cap="sq">
              <a:solidFill>
                <a:srgbClr val="CCCCC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631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14" y="9267586"/>
            <a:ext cx="804526" cy="804526"/>
            <a:chOff x="0" y="0"/>
            <a:chExt cx="1072702" cy="1072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702" cy="1072702"/>
            </a:xfrm>
            <a:custGeom>
              <a:avLst/>
              <a:gdLst/>
              <a:ahLst/>
              <a:cxnLst/>
              <a:rect r="r" b="b" t="t" l="l"/>
              <a:pathLst>
                <a:path h="1072702" w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445" y="150016"/>
              <a:ext cx="755811" cy="772669"/>
            </a:xfrm>
            <a:custGeom>
              <a:avLst/>
              <a:gdLst/>
              <a:ahLst/>
              <a:cxnLst/>
              <a:rect r="r" b="b" t="t" l="l"/>
              <a:pathLst>
                <a:path h="772669" w="755811">
                  <a:moveTo>
                    <a:pt x="0" y="0"/>
                  </a:moveTo>
                  <a:lnTo>
                    <a:pt x="755811" y="0"/>
                  </a:lnTo>
                  <a:lnTo>
                    <a:pt x="755811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 descr="a pixelated image of a printer"/>
          <p:cNvSpPr/>
          <p:nvPr/>
        </p:nvSpPr>
        <p:spPr>
          <a:xfrm flipH="false" flipV="false" rot="0">
            <a:off x="1423082" y="9291263"/>
            <a:ext cx="807064" cy="757173"/>
          </a:xfrm>
          <a:custGeom>
            <a:avLst/>
            <a:gdLst/>
            <a:ahLst/>
            <a:cxnLst/>
            <a:rect r="r" b="b" t="t" l="l"/>
            <a:pathLst>
              <a:path h="757173" w="807064">
                <a:moveTo>
                  <a:pt x="0" y="0"/>
                </a:moveTo>
                <a:lnTo>
                  <a:pt x="807064" y="0"/>
                </a:lnTo>
                <a:lnTo>
                  <a:pt x="807064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a pixelated notepad"/>
          <p:cNvSpPr/>
          <p:nvPr/>
        </p:nvSpPr>
        <p:spPr>
          <a:xfrm flipH="false" flipV="false" rot="0">
            <a:off x="2395752" y="9327294"/>
            <a:ext cx="662689" cy="685111"/>
          </a:xfrm>
          <a:custGeom>
            <a:avLst/>
            <a:gdLst/>
            <a:ahLst/>
            <a:cxnLst/>
            <a:rect r="r" b="b" t="t" l="l"/>
            <a:pathLst>
              <a:path h="685111" w="662689">
                <a:moveTo>
                  <a:pt x="0" y="0"/>
                </a:moveTo>
                <a:lnTo>
                  <a:pt x="662688" y="0"/>
                </a:lnTo>
                <a:lnTo>
                  <a:pt x="662688" y="685110"/>
                </a:lnTo>
                <a:lnTo>
                  <a:pt x="0" y="685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an image of the earth in a pixel art style"/>
          <p:cNvSpPr/>
          <p:nvPr/>
        </p:nvSpPr>
        <p:spPr>
          <a:xfrm flipH="false" flipV="false" rot="0">
            <a:off x="4062279" y="9335724"/>
            <a:ext cx="668249" cy="668249"/>
          </a:xfrm>
          <a:custGeom>
            <a:avLst/>
            <a:gdLst/>
            <a:ahLst/>
            <a:cxnLst/>
            <a:rect r="r" b="b" t="t" l="l"/>
            <a:pathLst>
              <a:path h="668249" w="668249">
                <a:moveTo>
                  <a:pt x="0" y="0"/>
                </a:moveTo>
                <a:lnTo>
                  <a:pt x="668250" y="0"/>
                </a:lnTo>
                <a:lnTo>
                  <a:pt x="668250" y="668250"/>
                </a:lnTo>
                <a:lnTo>
                  <a:pt x="0" y="668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a pixelated image of a dice"/>
          <p:cNvSpPr/>
          <p:nvPr/>
        </p:nvSpPr>
        <p:spPr>
          <a:xfrm flipH="false" flipV="false" rot="0">
            <a:off x="3224046" y="9309278"/>
            <a:ext cx="672629" cy="721142"/>
          </a:xfrm>
          <a:custGeom>
            <a:avLst/>
            <a:gdLst/>
            <a:ahLst/>
            <a:cxnLst/>
            <a:rect r="r" b="b" t="t" l="l"/>
            <a:pathLst>
              <a:path h="721142" w="672629">
                <a:moveTo>
                  <a:pt x="0" y="0"/>
                </a:moveTo>
                <a:lnTo>
                  <a:pt x="672628" y="0"/>
                </a:lnTo>
                <a:lnTo>
                  <a:pt x="672628" y="721142"/>
                </a:lnTo>
                <a:lnTo>
                  <a:pt x="0" y="7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 descr="pixelated newspaper"/>
          <p:cNvSpPr/>
          <p:nvPr/>
        </p:nvSpPr>
        <p:spPr>
          <a:xfrm flipH="false" flipV="false" rot="0">
            <a:off x="4877084" y="9291263"/>
            <a:ext cx="905315" cy="757173"/>
          </a:xfrm>
          <a:custGeom>
            <a:avLst/>
            <a:gdLst/>
            <a:ahLst/>
            <a:cxnLst/>
            <a:rect r="r" b="b" t="t" l="l"/>
            <a:pathLst>
              <a:path h="757173" w="905315">
                <a:moveTo>
                  <a:pt x="0" y="0"/>
                </a:moveTo>
                <a:lnTo>
                  <a:pt x="905315" y="0"/>
                </a:lnTo>
                <a:lnTo>
                  <a:pt x="905315" y="757173"/>
                </a:lnTo>
                <a:lnTo>
                  <a:pt x="0" y="757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cursor"/>
          <p:cNvSpPr/>
          <p:nvPr/>
        </p:nvSpPr>
        <p:spPr>
          <a:xfrm flipH="false" flipV="false" rot="0">
            <a:off x="6384158" y="4673965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6" y="0"/>
                </a:lnTo>
                <a:lnTo>
                  <a:pt x="484736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70482" y="3650297"/>
            <a:ext cx="11293721" cy="5646861"/>
            <a:chOff x="0" y="0"/>
            <a:chExt cx="15058295" cy="7529148"/>
          </a:xfrm>
        </p:grpSpPr>
        <p:sp>
          <p:nvSpPr>
            <p:cNvPr name="Freeform 15" id="15" descr="pixel old tech window"/>
            <p:cNvSpPr/>
            <p:nvPr/>
          </p:nvSpPr>
          <p:spPr>
            <a:xfrm flipH="false" flipV="false" rot="-5400000">
              <a:off x="3764574" y="-3764574"/>
              <a:ext cx="7529148" cy="15058295"/>
            </a:xfrm>
            <a:custGeom>
              <a:avLst/>
              <a:gdLst/>
              <a:ahLst/>
              <a:cxnLst/>
              <a:rect r="r" b="b" t="t" l="l"/>
              <a:pathLst>
                <a:path h="15058295" w="7529148">
                  <a:moveTo>
                    <a:pt x="0" y="0"/>
                  </a:moveTo>
                  <a:lnTo>
                    <a:pt x="7529147" y="0"/>
                  </a:lnTo>
                  <a:lnTo>
                    <a:pt x="7529147" y="15058295"/>
                  </a:lnTo>
                  <a:lnTo>
                    <a:pt x="0" y="15058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18815" y="785371"/>
              <a:ext cx="11520203" cy="6054585"/>
            </a:xfrm>
            <a:custGeom>
              <a:avLst/>
              <a:gdLst/>
              <a:ahLst/>
              <a:cxnLst/>
              <a:rect r="r" b="b" t="t" l="l"/>
              <a:pathLst>
                <a:path h="6054585" w="11520203">
                  <a:moveTo>
                    <a:pt x="0" y="0"/>
                  </a:moveTo>
                  <a:lnTo>
                    <a:pt x="11520203" y="0"/>
                  </a:lnTo>
                  <a:lnTo>
                    <a:pt x="11520203" y="6054585"/>
                  </a:lnTo>
                  <a:lnTo>
                    <a:pt x="0" y="605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Freeform 17" id="17" descr="pixel old tech window"/>
          <p:cNvSpPr/>
          <p:nvPr/>
        </p:nvSpPr>
        <p:spPr>
          <a:xfrm flipH="false" flipV="false" rot="0">
            <a:off x="417015" y="353523"/>
            <a:ext cx="9230307" cy="9230307"/>
          </a:xfrm>
          <a:custGeom>
            <a:avLst/>
            <a:gdLst/>
            <a:ahLst/>
            <a:cxnLst/>
            <a:rect r="r" b="b" t="t" l="l"/>
            <a:pathLst>
              <a:path h="9230307" w="9230307">
                <a:moveTo>
                  <a:pt x="0" y="0"/>
                </a:moveTo>
                <a:lnTo>
                  <a:pt x="9230307" y="0"/>
                </a:lnTo>
                <a:lnTo>
                  <a:pt x="9230307" y="9230307"/>
                </a:lnTo>
                <a:lnTo>
                  <a:pt x="0" y="923030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109868" y="9297158"/>
            <a:ext cx="2801811" cy="712035"/>
            <a:chOff x="0" y="0"/>
            <a:chExt cx="737925" cy="187532"/>
          </a:xfrm>
        </p:grpSpPr>
        <p:sp>
          <p:nvSpPr>
            <p:cNvPr name="Freeform 19" id="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737925" cy="187532"/>
            </a:xfrm>
            <a:custGeom>
              <a:avLst/>
              <a:gdLst/>
              <a:ahLst/>
              <a:cxnLst/>
              <a:rect r="r" b="b" t="t" l="l"/>
              <a:pathLst>
                <a:path h="187532" w="737925">
                  <a:moveTo>
                    <a:pt x="0" y="0"/>
                  </a:moveTo>
                  <a:lnTo>
                    <a:pt x="737925" y="0"/>
                  </a:lnTo>
                  <a:lnTo>
                    <a:pt x="737925" y="187532"/>
                  </a:lnTo>
                  <a:lnTo>
                    <a:pt x="0" y="187532"/>
                  </a:lnTo>
                  <a:close/>
                </a:path>
              </a:pathLst>
            </a:custGeom>
            <a:solidFill>
              <a:srgbClr val="CCCC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737925" cy="254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 u="sng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Back to Agenda Page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9677" y="1937509"/>
            <a:ext cx="8588912" cy="6298312"/>
            <a:chOff x="0" y="0"/>
            <a:chExt cx="1093915" cy="8021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3915" cy="802176"/>
            </a:xfrm>
            <a:custGeom>
              <a:avLst/>
              <a:gdLst/>
              <a:ahLst/>
              <a:cxnLst/>
              <a:rect r="r" b="b" t="t" l="l"/>
              <a:pathLst>
                <a:path h="802176" w="1093915">
                  <a:moveTo>
                    <a:pt x="0" y="0"/>
                  </a:moveTo>
                  <a:lnTo>
                    <a:pt x="1093915" y="0"/>
                  </a:lnTo>
                  <a:lnTo>
                    <a:pt x="1093915" y="802176"/>
                  </a:lnTo>
                  <a:lnTo>
                    <a:pt x="0" y="802176"/>
                  </a:lnTo>
                  <a:close/>
                </a:path>
              </a:pathLst>
            </a:custGeom>
            <a:blipFill>
              <a:blip r:embed="rId23"/>
              <a:stretch>
                <a:fillRect l="0" t="-545" r="0" b="-54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817603" y="343998"/>
            <a:ext cx="6307624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Evaluación del  Modelo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914233" y="2302973"/>
            <a:ext cx="2345067" cy="1902436"/>
          </a:xfrm>
          <a:custGeom>
            <a:avLst/>
            <a:gdLst/>
            <a:ahLst/>
            <a:cxnLst/>
            <a:rect r="r" b="b" t="t" l="l"/>
            <a:pathLst>
              <a:path h="1902436" w="2345067">
                <a:moveTo>
                  <a:pt x="0" y="0"/>
                </a:moveTo>
                <a:lnTo>
                  <a:pt x="2345067" y="0"/>
                </a:lnTo>
                <a:lnTo>
                  <a:pt x="2345067" y="1902436"/>
                </a:lnTo>
                <a:lnTo>
                  <a:pt x="0" y="190243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47000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596" y="946860"/>
            <a:ext cx="14830914" cy="7521921"/>
            <a:chOff x="0" y="0"/>
            <a:chExt cx="3906084" cy="1981082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906084" cy="1981082"/>
            </a:xfrm>
            <a:custGeom>
              <a:avLst/>
              <a:gdLst/>
              <a:ahLst/>
              <a:cxnLst/>
              <a:rect r="r" b="b" t="t" l="l"/>
              <a:pathLst>
                <a:path h="1981082" w="3906084">
                  <a:moveTo>
                    <a:pt x="0" y="0"/>
                  </a:moveTo>
                  <a:lnTo>
                    <a:pt x="3906084" y="0"/>
                  </a:lnTo>
                  <a:lnTo>
                    <a:pt x="3906084" y="1981082"/>
                  </a:lnTo>
                  <a:lnTo>
                    <a:pt x="0" y="1981082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06084" cy="2019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 descr="cursor"/>
          <p:cNvSpPr/>
          <p:nvPr/>
        </p:nvSpPr>
        <p:spPr>
          <a:xfrm flipH="false" flipV="false" rot="3207690">
            <a:off x="6778520" y="8056080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loading image"/>
          <p:cNvSpPr/>
          <p:nvPr/>
        </p:nvSpPr>
        <p:spPr>
          <a:xfrm flipH="false" flipV="false" rot="0">
            <a:off x="15355939" y="1387130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5390" y="1019175"/>
            <a:ext cx="117372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Conclusiones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3707" y="2984408"/>
            <a:ext cx="12852586" cy="319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</a:t>
            </a: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Se desarrolló un modelo capaz de clasificar condiciones de riesgo vial.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Random Forest alcanzó una precisión cercana al 80 %.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El modelo detectó correctamente la mayoría de los escenarios críticos.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Los resultados demuestran el potencial del Aprendizaje Automático aplicado a la seguridad vial.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Las variables meteorológicas permiten</a:t>
            </a: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anticipar situaciones de baja visibilidad.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41920" y="6988827"/>
            <a:ext cx="2777329" cy="2572501"/>
          </a:xfrm>
          <a:custGeom>
            <a:avLst/>
            <a:gdLst/>
            <a:ahLst/>
            <a:cxnLst/>
            <a:rect r="r" b="b" t="t" l="l"/>
            <a:pathLst>
              <a:path h="2572501" w="2777329">
                <a:moveTo>
                  <a:pt x="0" y="0"/>
                </a:moveTo>
                <a:lnTo>
                  <a:pt x="2777329" y="0"/>
                </a:lnTo>
                <a:lnTo>
                  <a:pt x="2777329" y="2572501"/>
                </a:lnTo>
                <a:lnTo>
                  <a:pt x="0" y="2572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90759" y="7335871"/>
            <a:ext cx="2792998" cy="2265820"/>
          </a:xfrm>
          <a:custGeom>
            <a:avLst/>
            <a:gdLst/>
            <a:ahLst/>
            <a:cxnLst/>
            <a:rect r="r" b="b" t="t" l="l"/>
            <a:pathLst>
              <a:path h="2265820" w="2792998">
                <a:moveTo>
                  <a:pt x="0" y="0"/>
                </a:moveTo>
                <a:lnTo>
                  <a:pt x="2792998" y="0"/>
                </a:lnTo>
                <a:lnTo>
                  <a:pt x="2792998" y="2265819"/>
                </a:lnTo>
                <a:lnTo>
                  <a:pt x="0" y="22658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596" y="946860"/>
            <a:ext cx="14830914" cy="7521921"/>
            <a:chOff x="0" y="0"/>
            <a:chExt cx="3906084" cy="1981082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906084" cy="1981082"/>
            </a:xfrm>
            <a:custGeom>
              <a:avLst/>
              <a:gdLst/>
              <a:ahLst/>
              <a:cxnLst/>
              <a:rect r="r" b="b" t="t" l="l"/>
              <a:pathLst>
                <a:path h="1981082" w="3906084">
                  <a:moveTo>
                    <a:pt x="0" y="0"/>
                  </a:moveTo>
                  <a:lnTo>
                    <a:pt x="3906084" y="0"/>
                  </a:lnTo>
                  <a:lnTo>
                    <a:pt x="3906084" y="1981082"/>
                  </a:lnTo>
                  <a:lnTo>
                    <a:pt x="0" y="1981082"/>
                  </a:lnTo>
                  <a:close/>
                </a:path>
              </a:pathLst>
            </a:custGeom>
            <a:solidFill>
              <a:srgbClr val="FEFF99"/>
            </a:solidFill>
            <a:ln w="95250" cap="sq">
              <a:solidFill>
                <a:srgbClr val="CCCCCC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06084" cy="2019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 descr="cursor"/>
          <p:cNvSpPr/>
          <p:nvPr/>
        </p:nvSpPr>
        <p:spPr>
          <a:xfrm flipH="false" flipV="false" rot="3207690">
            <a:off x="11276381" y="3290171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loading image"/>
          <p:cNvSpPr/>
          <p:nvPr/>
        </p:nvSpPr>
        <p:spPr>
          <a:xfrm flipH="false" flipV="false" rot="0">
            <a:off x="15355939" y="1387130"/>
            <a:ext cx="635693" cy="654740"/>
          </a:xfrm>
          <a:custGeom>
            <a:avLst/>
            <a:gdLst/>
            <a:ahLst/>
            <a:cxnLst/>
            <a:rect r="r" b="b" t="t" l="l"/>
            <a:pathLst>
              <a:path h="654740" w="635693">
                <a:moveTo>
                  <a:pt x="0" y="0"/>
                </a:moveTo>
                <a:lnTo>
                  <a:pt x="635692" y="0"/>
                </a:lnTo>
                <a:lnTo>
                  <a:pt x="635692" y="654740"/>
                </a:lnTo>
                <a:lnTo>
                  <a:pt x="0" y="65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 pixelated text tool"/>
          <p:cNvSpPr/>
          <p:nvPr/>
        </p:nvSpPr>
        <p:spPr>
          <a:xfrm flipH="false" flipV="false" rot="0">
            <a:off x="2474728" y="2252104"/>
            <a:ext cx="798979" cy="798979"/>
          </a:xfrm>
          <a:custGeom>
            <a:avLst/>
            <a:gdLst/>
            <a:ahLst/>
            <a:cxnLst/>
            <a:rect r="r" b="b" t="t" l="l"/>
            <a:pathLst>
              <a:path h="798979" w="798979">
                <a:moveTo>
                  <a:pt x="0" y="0"/>
                </a:moveTo>
                <a:lnTo>
                  <a:pt x="798979" y="0"/>
                </a:lnTo>
                <a:lnTo>
                  <a:pt x="798979" y="798979"/>
                </a:lnTo>
                <a:lnTo>
                  <a:pt x="0" y="798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5390" y="1019175"/>
            <a:ext cx="117372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8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Propuesta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0983" y="3484323"/>
            <a:ext cx="12852586" cy="479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Incorporar datos meteorológicos de Tolhuin.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Ampliar la cobertura geográfica de la RN3.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Incorporar datos de visibilidad observada.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Agregar información sobre estado de la calzada.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Incorporar tránsito vehicular.</a:t>
            </a:r>
          </a:p>
          <a:p>
            <a:pPr algn="l">
              <a:lnSpc>
                <a:spcPts val="4217"/>
              </a:lnSpc>
            </a:pPr>
            <a:r>
              <a:rPr lang="en-US" sz="301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• Integrar información satelital.</a:t>
            </a:r>
          </a:p>
          <a:p>
            <a:pPr algn="l">
              <a:lnSpc>
                <a:spcPts val="4217"/>
              </a:lnSpc>
            </a:pPr>
          </a:p>
          <a:p>
            <a:pPr algn="l">
              <a:lnSpc>
                <a:spcPts val="421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41920" y="6988827"/>
            <a:ext cx="2777329" cy="2572501"/>
          </a:xfrm>
          <a:custGeom>
            <a:avLst/>
            <a:gdLst/>
            <a:ahLst/>
            <a:cxnLst/>
            <a:rect r="r" b="b" t="t" l="l"/>
            <a:pathLst>
              <a:path h="2572501" w="2777329">
                <a:moveTo>
                  <a:pt x="0" y="0"/>
                </a:moveTo>
                <a:lnTo>
                  <a:pt x="2777329" y="0"/>
                </a:lnTo>
                <a:lnTo>
                  <a:pt x="2777329" y="2572501"/>
                </a:lnTo>
                <a:lnTo>
                  <a:pt x="0" y="2572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50776" y="6891672"/>
            <a:ext cx="2792998" cy="2265820"/>
          </a:xfrm>
          <a:custGeom>
            <a:avLst/>
            <a:gdLst/>
            <a:ahLst/>
            <a:cxnLst/>
            <a:rect r="r" b="b" t="t" l="l"/>
            <a:pathLst>
              <a:path h="2265820" w="2792998">
                <a:moveTo>
                  <a:pt x="0" y="0"/>
                </a:moveTo>
                <a:lnTo>
                  <a:pt x="2792999" y="0"/>
                </a:lnTo>
                <a:lnTo>
                  <a:pt x="2792999" y="2265820"/>
                </a:lnTo>
                <a:lnTo>
                  <a:pt x="0" y="2265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994632" y="2994410"/>
            <a:ext cx="5264668" cy="1713410"/>
            <a:chOff x="0" y="0"/>
            <a:chExt cx="7019557" cy="2284547"/>
          </a:xfrm>
        </p:grpSpPr>
        <p:sp>
          <p:nvSpPr>
            <p:cNvPr name="Freeform 14" id="14" descr="pixel old tech window"/>
            <p:cNvSpPr/>
            <p:nvPr/>
          </p:nvSpPr>
          <p:spPr>
            <a:xfrm flipH="false" flipV="false" rot="0">
              <a:off x="0" y="0"/>
              <a:ext cx="7019557" cy="2284547"/>
            </a:xfrm>
            <a:custGeom>
              <a:avLst/>
              <a:gdLst/>
              <a:ahLst/>
              <a:cxnLst/>
              <a:rect r="r" b="b" t="t" l="l"/>
              <a:pathLst>
                <a:path h="2284547" w="7019557">
                  <a:moveTo>
                    <a:pt x="0" y="0"/>
                  </a:moveTo>
                  <a:lnTo>
                    <a:pt x="7019557" y="0"/>
                  </a:lnTo>
                  <a:lnTo>
                    <a:pt x="7019557" y="2284547"/>
                  </a:lnTo>
                  <a:lnTo>
                    <a:pt x="0" y="2284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7221" y="110814"/>
              <a:ext cx="4855519" cy="454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9"/>
                </a:lnSpc>
              </a:pPr>
              <a:r>
                <a:rPr lang="en-US" sz="2057">
                  <a:solidFill>
                    <a:srgbClr val="FFFFFF"/>
                  </a:solidFill>
                  <a:latin typeface="Retropix"/>
                  <a:ea typeface="Retropix"/>
                  <a:cs typeface="Retropix"/>
                  <a:sym typeface="Retropix"/>
                </a:rPr>
                <a:t>Objetivo futuro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27221" y="988636"/>
              <a:ext cx="3992956" cy="1078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sz="1552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Evolucionar hacia un sistema integral de predicción de seguridad vial.</a:t>
              </a:r>
            </a:p>
            <a:p>
              <a:pPr algn="l">
                <a:lnSpc>
                  <a:spcPts val="2174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ixel Old Tech Blank Page"/>
          <p:cNvSpPr/>
          <p:nvPr/>
        </p:nvSpPr>
        <p:spPr>
          <a:xfrm flipH="false" flipV="false" rot="0">
            <a:off x="-1816736" y="-5817236"/>
            <a:ext cx="21921472" cy="21921472"/>
          </a:xfrm>
          <a:custGeom>
            <a:avLst/>
            <a:gdLst/>
            <a:ahLst/>
            <a:cxnLst/>
            <a:rect r="r" b="b" t="t" l="l"/>
            <a:pathLst>
              <a:path h="21921472" w="21921472">
                <a:moveTo>
                  <a:pt x="0" y="0"/>
                </a:moveTo>
                <a:lnTo>
                  <a:pt x="21921472" y="0"/>
                </a:lnTo>
                <a:lnTo>
                  <a:pt x="21921472" y="21921472"/>
                </a:lnTo>
                <a:lnTo>
                  <a:pt x="0" y="2192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ixel old tech window"/>
          <p:cNvSpPr/>
          <p:nvPr/>
        </p:nvSpPr>
        <p:spPr>
          <a:xfrm flipH="false" flipV="false" rot="0">
            <a:off x="-2051798" y="6727729"/>
            <a:ext cx="7151220" cy="2327397"/>
          </a:xfrm>
          <a:custGeom>
            <a:avLst/>
            <a:gdLst/>
            <a:ahLst/>
            <a:cxnLst/>
            <a:rect r="r" b="b" t="t" l="l"/>
            <a:pathLst>
              <a:path h="2327397" w="7151220">
                <a:moveTo>
                  <a:pt x="0" y="0"/>
                </a:moveTo>
                <a:lnTo>
                  <a:pt x="7151219" y="0"/>
                </a:lnTo>
                <a:lnTo>
                  <a:pt x="7151219" y="2327397"/>
                </a:lnTo>
                <a:lnTo>
                  <a:pt x="0" y="2327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pixel old tech window"/>
          <p:cNvSpPr/>
          <p:nvPr/>
        </p:nvSpPr>
        <p:spPr>
          <a:xfrm flipH="false" flipV="false" rot="0">
            <a:off x="15077168" y="1724416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pixel old tech window"/>
          <p:cNvSpPr/>
          <p:nvPr/>
        </p:nvSpPr>
        <p:spPr>
          <a:xfrm flipH="false" flipV="false" rot="0">
            <a:off x="13333126" y="0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7"/>
                </a:lnTo>
                <a:lnTo>
                  <a:pt x="0" y="3684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pixel old tech window"/>
          <p:cNvSpPr/>
          <p:nvPr/>
        </p:nvSpPr>
        <p:spPr>
          <a:xfrm flipH="false" flipV="false" rot="0">
            <a:off x="1523812" y="-5528151"/>
            <a:ext cx="4364264" cy="8728529"/>
          </a:xfrm>
          <a:custGeom>
            <a:avLst/>
            <a:gdLst/>
            <a:ahLst/>
            <a:cxnLst/>
            <a:rect r="r" b="b" t="t" l="l"/>
            <a:pathLst>
              <a:path h="8728529" w="4364264">
                <a:moveTo>
                  <a:pt x="0" y="0"/>
                </a:moveTo>
                <a:lnTo>
                  <a:pt x="4364264" y="0"/>
                </a:lnTo>
                <a:lnTo>
                  <a:pt x="4364264" y="8728529"/>
                </a:lnTo>
                <a:lnTo>
                  <a:pt x="0" y="872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ixel old tech window"/>
          <p:cNvSpPr/>
          <p:nvPr/>
        </p:nvSpPr>
        <p:spPr>
          <a:xfrm flipH="false" flipV="false" rot="0">
            <a:off x="3443210" y="2152891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ixel old tech window"/>
          <p:cNvSpPr/>
          <p:nvPr/>
        </p:nvSpPr>
        <p:spPr>
          <a:xfrm flipH="false" flipV="false" rot="0">
            <a:off x="3705944" y="2391347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2"/>
                </a:lnTo>
                <a:lnTo>
                  <a:pt x="0" y="5247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 descr="pixel old tech window"/>
          <p:cNvSpPr/>
          <p:nvPr/>
        </p:nvSpPr>
        <p:spPr>
          <a:xfrm flipH="false" flipV="false" rot="0">
            <a:off x="3958123" y="2643525"/>
            <a:ext cx="10495805" cy="5247903"/>
          </a:xfrm>
          <a:custGeom>
            <a:avLst/>
            <a:gdLst/>
            <a:ahLst/>
            <a:cxnLst/>
            <a:rect r="r" b="b" t="t" l="l"/>
            <a:pathLst>
              <a:path h="5247903" w="10495805">
                <a:moveTo>
                  <a:pt x="0" y="0"/>
                </a:moveTo>
                <a:lnTo>
                  <a:pt x="10495805" y="0"/>
                </a:lnTo>
                <a:lnTo>
                  <a:pt x="10495805" y="5247903"/>
                </a:lnTo>
                <a:lnTo>
                  <a:pt x="0" y="5247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 descr="old tech warning sign"/>
          <p:cNvSpPr/>
          <p:nvPr/>
        </p:nvSpPr>
        <p:spPr>
          <a:xfrm flipH="false" flipV="false" rot="0">
            <a:off x="4227848" y="2909472"/>
            <a:ext cx="581810" cy="581810"/>
          </a:xfrm>
          <a:custGeom>
            <a:avLst/>
            <a:gdLst/>
            <a:ahLst/>
            <a:cxnLst/>
            <a:rect r="r" b="b" t="t" l="l"/>
            <a:pathLst>
              <a:path h="581810" w="581810">
                <a:moveTo>
                  <a:pt x="0" y="0"/>
                </a:moveTo>
                <a:lnTo>
                  <a:pt x="581810" y="0"/>
                </a:lnTo>
                <a:lnTo>
                  <a:pt x="581810" y="581811"/>
                </a:lnTo>
                <a:lnTo>
                  <a:pt x="0" y="5818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 descr="cursor"/>
          <p:cNvSpPr/>
          <p:nvPr/>
        </p:nvSpPr>
        <p:spPr>
          <a:xfrm flipH="false" flipV="false" rot="0">
            <a:off x="12848391" y="7478728"/>
            <a:ext cx="484735" cy="825401"/>
          </a:xfrm>
          <a:custGeom>
            <a:avLst/>
            <a:gdLst/>
            <a:ahLst/>
            <a:cxnLst/>
            <a:rect r="r" b="b" t="t" l="l"/>
            <a:pathLst>
              <a:path h="825401" w="484735">
                <a:moveTo>
                  <a:pt x="0" y="0"/>
                </a:moveTo>
                <a:lnTo>
                  <a:pt x="484735" y="0"/>
                </a:lnTo>
                <a:lnTo>
                  <a:pt x="484735" y="825400"/>
                </a:lnTo>
                <a:lnTo>
                  <a:pt x="0" y="82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569053" y="2909472"/>
            <a:ext cx="613646" cy="613646"/>
          </a:xfrm>
          <a:custGeom>
            <a:avLst/>
            <a:gdLst/>
            <a:ahLst/>
            <a:cxnLst/>
            <a:rect r="r" b="b" t="t" l="l"/>
            <a:pathLst>
              <a:path h="613646" w="613646">
                <a:moveTo>
                  <a:pt x="0" y="0"/>
                </a:moveTo>
                <a:lnTo>
                  <a:pt x="613646" y="0"/>
                </a:lnTo>
                <a:lnTo>
                  <a:pt x="613646" y="613646"/>
                </a:lnTo>
                <a:lnTo>
                  <a:pt x="0" y="6136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72626" y="1323946"/>
            <a:ext cx="1658982" cy="4147456"/>
            <a:chOff x="0" y="0"/>
            <a:chExt cx="2211976" cy="55299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05988" y="0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05988" y="2211976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9"/>
                  </a:lnTo>
                  <a:lnTo>
                    <a:pt x="0" y="1105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05988" y="1105988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05988" y="3317965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05988" y="4423953"/>
              <a:ext cx="1105988" cy="1105988"/>
            </a:xfrm>
            <a:custGeom>
              <a:avLst/>
              <a:gdLst/>
              <a:ahLst/>
              <a:cxnLst/>
              <a:rect r="r" b="b" t="t" l="l"/>
              <a:pathLst>
                <a:path h="1105988" w="1105988">
                  <a:moveTo>
                    <a:pt x="0" y="0"/>
                  </a:moveTo>
                  <a:lnTo>
                    <a:pt x="1105988" y="0"/>
                  </a:lnTo>
                  <a:lnTo>
                    <a:pt x="1105988" y="1105988"/>
                  </a:lnTo>
                  <a:lnTo>
                    <a:pt x="0" y="1105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284474" y="4613333"/>
              <a:ext cx="749016" cy="727227"/>
            </a:xfrm>
            <a:custGeom>
              <a:avLst/>
              <a:gdLst/>
              <a:ahLst/>
              <a:cxnLst/>
              <a:rect r="r" b="b" t="t" l="l"/>
              <a:pathLst>
                <a:path h="727227" w="749016">
                  <a:moveTo>
                    <a:pt x="0" y="0"/>
                  </a:moveTo>
                  <a:lnTo>
                    <a:pt x="749016" y="0"/>
                  </a:lnTo>
                  <a:lnTo>
                    <a:pt x="749016" y="727227"/>
                  </a:lnTo>
                  <a:lnTo>
                    <a:pt x="0" y="7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5" id="25" descr="pixel old tech window"/>
          <p:cNvSpPr/>
          <p:nvPr/>
        </p:nvSpPr>
        <p:spPr>
          <a:xfrm flipH="false" flipV="false" rot="0">
            <a:off x="4045617" y="8444541"/>
            <a:ext cx="3684917" cy="3684917"/>
          </a:xfrm>
          <a:custGeom>
            <a:avLst/>
            <a:gdLst/>
            <a:ahLst/>
            <a:cxnLst/>
            <a:rect r="r" b="b" t="t" l="l"/>
            <a:pathLst>
              <a:path h="3684917" w="3684917">
                <a:moveTo>
                  <a:pt x="0" y="0"/>
                </a:moveTo>
                <a:lnTo>
                  <a:pt x="3684918" y="0"/>
                </a:lnTo>
                <a:lnTo>
                  <a:pt x="3684918" y="3684918"/>
                </a:lnTo>
                <a:lnTo>
                  <a:pt x="0" y="3684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676293" y="4948292"/>
            <a:ext cx="893541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</a:pPr>
            <a:r>
              <a:rPr lang="en-US" sz="6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Gracias</a:t>
            </a:r>
            <a:r>
              <a:rPr lang="en-US" sz="6999" u="none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!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778996" y="6319833"/>
            <a:ext cx="1688853" cy="2638832"/>
          </a:xfrm>
          <a:custGeom>
            <a:avLst/>
            <a:gdLst/>
            <a:ahLst/>
            <a:cxnLst/>
            <a:rect r="r" b="b" t="t" l="l"/>
            <a:pathLst>
              <a:path h="2638832" w="1688853">
                <a:moveTo>
                  <a:pt x="0" y="0"/>
                </a:moveTo>
                <a:lnTo>
                  <a:pt x="1688853" y="0"/>
                </a:lnTo>
                <a:lnTo>
                  <a:pt x="1688853" y="2638832"/>
                </a:lnTo>
                <a:lnTo>
                  <a:pt x="0" y="263883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403626" y="49132"/>
            <a:ext cx="2115127" cy="1959136"/>
          </a:xfrm>
          <a:custGeom>
            <a:avLst/>
            <a:gdLst/>
            <a:ahLst/>
            <a:cxnLst/>
            <a:rect r="r" b="b" t="t" l="l"/>
            <a:pathLst>
              <a:path h="1959136" w="2115127">
                <a:moveTo>
                  <a:pt x="0" y="0"/>
                </a:moveTo>
                <a:lnTo>
                  <a:pt x="2115127" y="0"/>
                </a:lnTo>
                <a:lnTo>
                  <a:pt x="2115127" y="1959136"/>
                </a:lnTo>
                <a:lnTo>
                  <a:pt x="0" y="1959136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DAHMwc3yeXU</dc:identifier>
  <dcterms:modified xsi:type="dcterms:W3CDTF">2011-08-01T06:04:30Z</dcterms:modified>
  <cp:revision>1</cp:revision>
  <dc:title>Modelo Predictivo de Visibilidad y Seguridad Vial en la RN3</dc:title>
</cp:coreProperties>
</file>